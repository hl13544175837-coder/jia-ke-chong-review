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7077cb8e194274" /><Relationship Type="http://schemas.openxmlformats.org/officeDocument/2006/relationships/extended-properties" Target="/docProps/app.xml" Id="Rf2a2492a4a8e4e87" /><Relationship Type="http://schemas.openxmlformats.org/officeDocument/2006/relationships/officeDocument" Target="/ppt/presentation.xml" Id="R79792fad535a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5418948e7443e"/>
  </p:sldMasterIdLst>
  <p:notesMasterIdLst>
    <p:notesMasterId xmlns:r="http://schemas.openxmlformats.org/officeDocument/2006/relationships" r:id="R47d1c8e0ce5b4af2"/>
  </p:notesMasterIdLst>
  <p:sldIdLst>
    <p:sldId xmlns:r="http://schemas.openxmlformats.org/officeDocument/2006/relationships" id="256" r:id="Rda912a5b93eb4ec0"/>
  </p:sldIdLst>
  <p:sldSz cx="20955000" cy="139255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5ed5298e8b41d9" /><Relationship Type="http://schemas.openxmlformats.org/officeDocument/2006/relationships/slideMaster" Target="/ppt/slideMasters/slideMaster1.xml" Id="R7105418948e7443e" /><Relationship Type="http://schemas.openxmlformats.org/officeDocument/2006/relationships/notesMaster" Target="/ppt/notesMasters/notesMaster1.xml" Id="R47d1c8e0ce5b4af2" /><Relationship Type="http://schemas.openxmlformats.org/officeDocument/2006/relationships/presProps" Target="/ppt/presProps.xml" Id="Rc06feb0224364579" /><Relationship Type="http://schemas.openxmlformats.org/officeDocument/2006/relationships/tableStyles" Target="/ppt/tableStyles.xml" Id="R94d543f377084cc5" /><Relationship Type="http://schemas.openxmlformats.org/officeDocument/2006/relationships/slide" Target="/ppt/slides/slide1.xml" Id="Rda912a5b93eb4e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eb6ea4b7eb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d6f70c266d4e71" /><Relationship Type="http://schemas.openxmlformats.org/officeDocument/2006/relationships/notesMaster" Target="/ppt/notesMasters/notesMaster1.xml" Id="Rf8f4790e4fd2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1814f0411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9b77dea43a4893" /><Relationship Type="http://schemas.openxmlformats.org/officeDocument/2006/relationships/slideLayout" Target="/ppt/slideLayouts/slideLayout1.xml" Id="R843e3f459f2f4d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3e3f459f2f4d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288cb26754416" /><Relationship Type="http://schemas.openxmlformats.org/officeDocument/2006/relationships/notesSlide" Target="/ppt/notesSlides/notesSlide1.xml" Id="Rcdaa9b1609f647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g">
            <a:extLst xmlns:a="http://schemas.openxmlformats.org/drawingml/2006/main">
              <a:ext uri="{FF2B5EF4-FFF2-40B4-BE49-F238E27FC236}">
                <a16:creationId xmlns:a16="http://schemas.microsoft.com/office/drawing/2014/main" id="{99D48795-51EE-4E11-AC70-CF853D0C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19F9B56-CE52-42B5-B22D-6A566856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D0E7"/>
                </a:solidFill>
              </a:defRPr>
            </a:pPr>
            <a:r>
              <a:rPr sz="1275" b="1">
                <a:solidFill>
                  <a:srgbClr val="C3D0E7"/>
                </a:solidFill>
              </a:rPr>
              <a:t>ZHIPIN · EDITABLE TARGET RECRUITMENT SWIMLANE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C41047CD-A62A-4077-8F1E-38D5F65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238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智聘目标态招聘业务泳道图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BFCFC0E-CDC5-40CB-9C6C-89972A17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6F8"/>
                </a:solidFill>
              </a:defRPr>
            </a:pPr>
            <a:r>
              <a:rPr sz="1500" b="0">
                <a:solidFill>
                  <a:srgbClr val="DCE6F8"/>
                </a:solidFill>
              </a:rPr>
              <a:t>从 OA 招聘需求发起，到面试、Offer、正式入职与 HC 对账｜所有元素均可编辑</a:t>
            </a:r>
          </a:p>
        </p:txBody>
      </p:sp>
      <p:sp>
        <p:nvSpPr>
          <p:cNvPr id="5" name="start-claim">
            <a:extLst xmlns:a="http://schemas.openxmlformats.org/drawingml/2006/main">
              <a:ext uri="{FF2B5EF4-FFF2-40B4-BE49-F238E27FC236}">
                <a16:creationId xmlns:a16="http://schemas.microsoft.com/office/drawing/2014/main" id="{F760E947-AE58-48A0-B082-0327657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47850"/>
            <a:ext cx="1400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正确起点：用人部门在 OA 发起需求，OA 审批通过后向智聘发送 MQ</a:t>
            </a:r>
          </a:p>
        </p:txBody>
      </p:sp>
      <p:sp>
        <p:nvSpPr>
          <p:cNvPr id="6" name="state-pill-bg">
            <a:extLst xmlns:a="http://schemas.openxmlformats.org/drawingml/2006/main">
              <a:ext uri="{FF2B5EF4-FFF2-40B4-BE49-F238E27FC236}">
                <a16:creationId xmlns:a16="http://schemas.microsoft.com/office/drawing/2014/main" id="{BB332FBD-3A29-45E2-911F-B59A86E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838325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FC26D"/>
            </a:solidFill>
            <a:prstDash val="solid"/>
          </a:ln>
        </p:spPr>
      </p:sp>
      <p:sp>
        <p:nvSpPr>
          <p:cNvPr id="7" name="state-pill">
            <a:extLst xmlns:a="http://schemas.openxmlformats.org/drawingml/2006/main">
              <a:ext uri="{FF2B5EF4-FFF2-40B4-BE49-F238E27FC236}">
                <a16:creationId xmlns:a16="http://schemas.microsoft.com/office/drawing/2014/main" id="{50838753-F510-48CA-B498-4369D35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1924050"/>
            <a:ext cx="442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E4B00"/>
                </a:solidFill>
              </a:defRPr>
            </a:pPr>
            <a:r>
              <a:rPr sz="1125" b="1">
                <a:solidFill>
                  <a:srgbClr val="7E4B00"/>
                </a:solidFill>
              </a:rPr>
              <a:t>目标态流程｜当前外部能力尚未接通</a:t>
            </a:r>
          </a:p>
        </p:txBody>
      </p:sp>
      <p:sp>
        <p:nvSpPr>
          <p:cNvPr id="8" name="phase-lane-header">
            <a:extLst xmlns:a="http://schemas.openxmlformats.org/drawingml/2006/main">
              <a:ext uri="{FF2B5EF4-FFF2-40B4-BE49-F238E27FC236}">
                <a16:creationId xmlns:a16="http://schemas.microsoft.com/office/drawing/2014/main" id="{5BF8A290-EC26-4382-BB88-C423202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812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14284D"/>
            </a:solidFill>
            <a:prstDash val="solid"/>
          </a:ln>
        </p:spPr>
      </p:sp>
      <p:sp>
        <p:nvSpPr>
          <p:cNvPr id="9" name="phase-lane-label">
            <a:extLst xmlns:a="http://schemas.openxmlformats.org/drawingml/2006/main">
              <a:ext uri="{FF2B5EF4-FFF2-40B4-BE49-F238E27FC236}">
                <a16:creationId xmlns:a16="http://schemas.microsoft.com/office/drawing/2014/main" id="{EBABDB74-B6EF-4C43-9D7C-7D4C7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6384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角色 / 系统</a:t>
            </a:r>
          </a:p>
        </p:txBody>
      </p:sp>
      <p:sp>
        <p:nvSpPr>
          <p:cNvPr id="10" name="phase-1-bg">
            <a:extLst xmlns:a="http://schemas.openxmlformats.org/drawingml/2006/main">
              <a:ext uri="{FF2B5EF4-FFF2-40B4-BE49-F238E27FC236}">
                <a16:creationId xmlns:a16="http://schemas.microsoft.com/office/drawing/2014/main" id="{92781DDC-B4FE-43B1-910F-B8DEF07E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11" name="phase-1-num-bg">
            <a:extLst xmlns:a="http://schemas.openxmlformats.org/drawingml/2006/main">
              <a:ext uri="{FF2B5EF4-FFF2-40B4-BE49-F238E27FC236}">
                <a16:creationId xmlns:a16="http://schemas.microsoft.com/office/drawing/2014/main" id="{979E366A-4718-4568-919F-A2F8C67E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1-num">
            <a:extLst xmlns:a="http://schemas.openxmlformats.org/drawingml/2006/main">
              <a:ext uri="{FF2B5EF4-FFF2-40B4-BE49-F238E27FC236}">
                <a16:creationId xmlns:a16="http://schemas.microsoft.com/office/drawing/2014/main" id="{BE00EBDD-3180-4C10-8B06-985101C8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1</a:t>
            </a:r>
          </a:p>
        </p:txBody>
      </p:sp>
      <p:sp>
        <p:nvSpPr>
          <p:cNvPr id="13" name="phase-1-title">
            <a:extLst xmlns:a="http://schemas.openxmlformats.org/drawingml/2006/main">
              <a:ext uri="{FF2B5EF4-FFF2-40B4-BE49-F238E27FC236}">
                <a16:creationId xmlns:a16="http://schemas.microsoft.com/office/drawing/2014/main" id="{D7F9B812-97B2-4FB2-8047-3314C90D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OA 提交需求</a:t>
            </a:r>
          </a:p>
        </p:txBody>
      </p:sp>
      <p:sp>
        <p:nvSpPr>
          <p:cNvPr id="14" name="phase-1-sub">
            <a:extLst xmlns:a="http://schemas.openxmlformats.org/drawingml/2006/main">
              <a:ext uri="{FF2B5EF4-FFF2-40B4-BE49-F238E27FC236}">
                <a16:creationId xmlns:a16="http://schemas.microsoft.com/office/drawing/2014/main" id="{B9052430-3C91-4E8D-ADA1-247F6C11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业务发起</a:t>
            </a:r>
          </a:p>
        </p:txBody>
      </p:sp>
      <p:sp>
        <p:nvSpPr>
          <p:cNvPr id="15" name="phase-1-arrow">
            <a:extLst xmlns:a="http://schemas.openxmlformats.org/drawingml/2006/main">
              <a:ext uri="{FF2B5EF4-FFF2-40B4-BE49-F238E27FC236}">
                <a16:creationId xmlns:a16="http://schemas.microsoft.com/office/drawing/2014/main" id="{CF1BBABA-575D-4E75-8CE4-675960CC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16" name="phase-2-bg">
            <a:extLst xmlns:a="http://schemas.openxmlformats.org/drawingml/2006/main">
              <a:ext uri="{FF2B5EF4-FFF2-40B4-BE49-F238E27FC236}">
                <a16:creationId xmlns:a16="http://schemas.microsoft.com/office/drawing/2014/main" id="{4F027821-F05C-4ED4-84DC-D984281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17" name="phase-2-num-bg">
            <a:extLst xmlns:a="http://schemas.openxmlformats.org/drawingml/2006/main">
              <a:ext uri="{FF2B5EF4-FFF2-40B4-BE49-F238E27FC236}">
                <a16:creationId xmlns:a16="http://schemas.microsoft.com/office/drawing/2014/main" id="{E09F8B63-167E-400F-8F4F-C255610B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2-num">
            <a:extLst xmlns:a="http://schemas.openxmlformats.org/drawingml/2006/main">
              <a:ext uri="{FF2B5EF4-FFF2-40B4-BE49-F238E27FC236}">
                <a16:creationId xmlns:a16="http://schemas.microsoft.com/office/drawing/2014/main" id="{E595FCB4-FA22-4A30-A195-F5C95D98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2</a:t>
            </a:r>
          </a:p>
        </p:txBody>
      </p:sp>
      <p:sp>
        <p:nvSpPr>
          <p:cNvPr id="19" name="phase-2-title">
            <a:extLst xmlns:a="http://schemas.openxmlformats.org/drawingml/2006/main">
              <a:ext uri="{FF2B5EF4-FFF2-40B4-BE49-F238E27FC236}">
                <a16:creationId xmlns:a16="http://schemas.microsoft.com/office/drawing/2014/main" id="{FBDEDC64-15CD-4299-986A-DE03D468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63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OA 审批与 MQ</a:t>
            </a:r>
          </a:p>
        </p:txBody>
      </p:sp>
      <p:sp>
        <p:nvSpPr>
          <p:cNvPr id="20" name="phase-2-sub">
            <a:extLst xmlns:a="http://schemas.openxmlformats.org/drawingml/2006/main">
              <a:ext uri="{FF2B5EF4-FFF2-40B4-BE49-F238E27FC236}">
                <a16:creationId xmlns:a16="http://schemas.microsoft.com/office/drawing/2014/main" id="{00167AFB-1AE4-4DA7-811A-2FD2C020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63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外部事件</a:t>
            </a:r>
          </a:p>
        </p:txBody>
      </p:sp>
      <p:sp>
        <p:nvSpPr>
          <p:cNvPr id="21" name="phase-2-arrow">
            <a:extLst xmlns:a="http://schemas.openxmlformats.org/drawingml/2006/main">
              <a:ext uri="{FF2B5EF4-FFF2-40B4-BE49-F238E27FC236}">
                <a16:creationId xmlns:a16="http://schemas.microsoft.com/office/drawing/2014/main" id="{B7926DF4-C476-43D6-9D41-B4AECACA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22" name="phase-3-bg">
            <a:extLst xmlns:a="http://schemas.openxmlformats.org/drawingml/2006/main">
              <a:ext uri="{FF2B5EF4-FFF2-40B4-BE49-F238E27FC236}">
                <a16:creationId xmlns:a16="http://schemas.microsoft.com/office/drawing/2014/main" id="{CB17438E-9EC8-4B49-A7F1-D2FA213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23" name="phase-3-num-bg">
            <a:extLst xmlns:a="http://schemas.openxmlformats.org/drawingml/2006/main">
              <a:ext uri="{FF2B5EF4-FFF2-40B4-BE49-F238E27FC236}">
                <a16:creationId xmlns:a16="http://schemas.microsoft.com/office/drawing/2014/main" id="{66F29E57-71D9-465E-A558-BC4C297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hase-3-num">
            <a:extLst xmlns:a="http://schemas.openxmlformats.org/drawingml/2006/main">
              <a:ext uri="{FF2B5EF4-FFF2-40B4-BE49-F238E27FC236}">
                <a16:creationId xmlns:a16="http://schemas.microsoft.com/office/drawing/2014/main" id="{12A1A248-FB68-4C02-A97D-DECB286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3</a:t>
            </a:r>
          </a:p>
        </p:txBody>
      </p:sp>
      <p:sp>
        <p:nvSpPr>
          <p:cNvPr id="25" name="phase-3-title">
            <a:extLst xmlns:a="http://schemas.openxmlformats.org/drawingml/2006/main">
              <a:ext uri="{FF2B5EF4-FFF2-40B4-BE49-F238E27FC236}">
                <a16:creationId xmlns:a16="http://schemas.microsoft.com/office/drawing/2014/main" id="{976F014B-4E9A-4C38-9648-01E5225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智聘承接 Demand</a:t>
            </a:r>
          </a:p>
        </p:txBody>
      </p:sp>
      <p:sp>
        <p:nvSpPr>
          <p:cNvPr id="26" name="phase-3-sub">
            <a:extLst xmlns:a="http://schemas.openxmlformats.org/drawingml/2006/main">
              <a:ext uri="{FF2B5EF4-FFF2-40B4-BE49-F238E27FC236}">
                <a16:creationId xmlns:a16="http://schemas.microsoft.com/office/drawing/2014/main" id="{D4FE4AA2-6F32-4203-9C38-05B4630E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招聘责任单</a:t>
            </a:r>
          </a:p>
        </p:txBody>
      </p:sp>
      <p:sp>
        <p:nvSpPr>
          <p:cNvPr id="27" name="phase-3-arrow">
            <a:extLst xmlns:a="http://schemas.openxmlformats.org/drawingml/2006/main">
              <a:ext uri="{FF2B5EF4-FFF2-40B4-BE49-F238E27FC236}">
                <a16:creationId xmlns:a16="http://schemas.microsoft.com/office/drawing/2014/main" id="{1D9B60CC-0D3F-4107-93B9-08146023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28" name="phase-4-bg">
            <a:extLst xmlns:a="http://schemas.openxmlformats.org/drawingml/2006/main">
              <a:ext uri="{FF2B5EF4-FFF2-40B4-BE49-F238E27FC236}">
                <a16:creationId xmlns:a16="http://schemas.microsoft.com/office/drawing/2014/main" id="{D7D21095-B2FF-4D8C-B495-4960A9E3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29" name="phase-4-num-bg">
            <a:extLst xmlns:a="http://schemas.openxmlformats.org/drawingml/2006/main">
              <a:ext uri="{FF2B5EF4-FFF2-40B4-BE49-F238E27FC236}">
                <a16:creationId xmlns:a16="http://schemas.microsoft.com/office/drawing/2014/main" id="{676B269C-B1DB-40E5-BC00-6F7A2432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163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hase-4-num">
            <a:extLst xmlns:a="http://schemas.openxmlformats.org/drawingml/2006/main">
              <a:ext uri="{FF2B5EF4-FFF2-40B4-BE49-F238E27FC236}">
                <a16:creationId xmlns:a16="http://schemas.microsoft.com/office/drawing/2014/main" id="{E0224845-D50F-4D1E-92EC-BDDCCB33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638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4</a:t>
            </a:r>
          </a:p>
        </p:txBody>
      </p:sp>
      <p:sp>
        <p:nvSpPr>
          <p:cNvPr id="31" name="phase-4-title">
            <a:extLst xmlns:a="http://schemas.openxmlformats.org/drawingml/2006/main">
              <a:ext uri="{FF2B5EF4-FFF2-40B4-BE49-F238E27FC236}">
                <a16:creationId xmlns:a16="http://schemas.microsoft.com/office/drawing/2014/main" id="{56155D14-0E17-4BA7-834E-19542327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588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候选人资料推送</a:t>
            </a:r>
          </a:p>
        </p:txBody>
      </p:sp>
      <p:sp>
        <p:nvSpPr>
          <p:cNvPr id="32" name="phase-4-sub">
            <a:extLst xmlns:a="http://schemas.openxmlformats.org/drawingml/2006/main">
              <a:ext uri="{FF2B5EF4-FFF2-40B4-BE49-F238E27FC236}">
                <a16:creationId xmlns:a16="http://schemas.microsoft.com/office/drawing/2014/main" id="{F743F7CE-FEA3-44CC-9185-E5F51D2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588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进入面试协同</a:t>
            </a:r>
          </a:p>
        </p:txBody>
      </p:sp>
      <p:sp>
        <p:nvSpPr>
          <p:cNvPr id="33" name="phase-4-arrow">
            <a:extLst xmlns:a="http://schemas.openxmlformats.org/drawingml/2006/main">
              <a:ext uri="{FF2B5EF4-FFF2-40B4-BE49-F238E27FC236}">
                <a16:creationId xmlns:a16="http://schemas.microsoft.com/office/drawing/2014/main" id="{D56048F5-730F-4ECE-B78F-0F070B4C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34" name="phase-5-bg">
            <a:extLst xmlns:a="http://schemas.openxmlformats.org/drawingml/2006/main">
              <a:ext uri="{FF2B5EF4-FFF2-40B4-BE49-F238E27FC236}">
                <a16:creationId xmlns:a16="http://schemas.microsoft.com/office/drawing/2014/main" id="{D71514E3-3A2D-434A-98A4-67D35CC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35" name="phase-5-num-bg">
            <a:extLst xmlns:a="http://schemas.openxmlformats.org/drawingml/2006/main">
              <a:ext uri="{FF2B5EF4-FFF2-40B4-BE49-F238E27FC236}">
                <a16:creationId xmlns:a16="http://schemas.microsoft.com/office/drawing/2014/main" id="{DCBA00C0-505D-428F-AF01-76CB37B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hase-5-num">
            <a:extLst xmlns:a="http://schemas.openxmlformats.org/drawingml/2006/main">
              <a:ext uri="{FF2B5EF4-FFF2-40B4-BE49-F238E27FC236}">
                <a16:creationId xmlns:a16="http://schemas.microsoft.com/office/drawing/2014/main" id="{8F39C06C-83D3-4932-952A-8FF08216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5</a:t>
            </a:r>
          </a:p>
        </p:txBody>
      </p:sp>
      <p:sp>
        <p:nvSpPr>
          <p:cNvPr id="37" name="phase-5-title">
            <a:extLst xmlns:a="http://schemas.openxmlformats.org/drawingml/2006/main">
              <a:ext uri="{FF2B5EF4-FFF2-40B4-BE49-F238E27FC236}">
                <a16:creationId xmlns:a16="http://schemas.microsoft.com/office/drawing/2014/main" id="{DBA1E13A-EF36-4ADC-AA7B-34C33F71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确认时间与安排</a:t>
            </a:r>
          </a:p>
        </p:txBody>
      </p:sp>
      <p:sp>
        <p:nvSpPr>
          <p:cNvPr id="38" name="phase-5-sub">
            <a:extLst xmlns:a="http://schemas.openxmlformats.org/drawingml/2006/main">
              <a:ext uri="{FF2B5EF4-FFF2-40B4-BE49-F238E27FC236}">
                <a16:creationId xmlns:a16="http://schemas.microsoft.com/office/drawing/2014/main" id="{261DA100-0466-4C94-8EDB-8CB95A3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日程 / 会议 / 通知</a:t>
            </a:r>
          </a:p>
        </p:txBody>
      </p:sp>
      <p:sp>
        <p:nvSpPr>
          <p:cNvPr id="39" name="phase-5-arrow">
            <a:extLst xmlns:a="http://schemas.openxmlformats.org/drawingml/2006/main">
              <a:ext uri="{FF2B5EF4-FFF2-40B4-BE49-F238E27FC236}">
                <a16:creationId xmlns:a16="http://schemas.microsoft.com/office/drawing/2014/main" id="{24314DF4-9254-451D-97DC-0299E9F1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363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40" name="phase-6-bg">
            <a:extLst xmlns:a="http://schemas.openxmlformats.org/drawingml/2006/main">
              <a:ext uri="{FF2B5EF4-FFF2-40B4-BE49-F238E27FC236}">
                <a16:creationId xmlns:a16="http://schemas.microsoft.com/office/drawing/2014/main" id="{6901AEDD-FB05-4D24-A28E-7E8BC757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41" name="phase-6-num-bg">
            <a:extLst xmlns:a="http://schemas.openxmlformats.org/drawingml/2006/main">
              <a:ext uri="{FF2B5EF4-FFF2-40B4-BE49-F238E27FC236}">
                <a16:creationId xmlns:a16="http://schemas.microsoft.com/office/drawing/2014/main" id="{934C552E-6931-4BE9-863D-0F0DEA6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388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hase-6-num">
            <a:extLst xmlns:a="http://schemas.openxmlformats.org/drawingml/2006/main">
              <a:ext uri="{FF2B5EF4-FFF2-40B4-BE49-F238E27FC236}">
                <a16:creationId xmlns:a16="http://schemas.microsoft.com/office/drawing/2014/main" id="{A2303B92-0334-424E-8B26-64FE09CB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863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6</a:t>
            </a:r>
          </a:p>
        </p:txBody>
      </p:sp>
      <p:sp>
        <p:nvSpPr>
          <p:cNvPr id="43" name="phase-6-title">
            <a:extLst xmlns:a="http://schemas.openxmlformats.org/drawingml/2006/main">
              <a:ext uri="{FF2B5EF4-FFF2-40B4-BE49-F238E27FC236}">
                <a16:creationId xmlns:a16="http://schemas.microsoft.com/office/drawing/2014/main" id="{09663618-EB9C-45CC-BFA6-7CB056CC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813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参加面试</a:t>
            </a:r>
          </a:p>
        </p:txBody>
      </p:sp>
      <p:sp>
        <p:nvSpPr>
          <p:cNvPr id="44" name="phase-6-sub">
            <a:extLst xmlns:a="http://schemas.openxmlformats.org/drawingml/2006/main">
              <a:ext uri="{FF2B5EF4-FFF2-40B4-BE49-F238E27FC236}">
                <a16:creationId xmlns:a16="http://schemas.microsoft.com/office/drawing/2014/main" id="{FA649FC5-540D-48CF-892C-BEAE6C00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813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线上或线下</a:t>
            </a:r>
          </a:p>
        </p:txBody>
      </p:sp>
      <p:sp>
        <p:nvSpPr>
          <p:cNvPr id="45" name="phase-6-arrow">
            <a:extLst xmlns:a="http://schemas.openxmlformats.org/drawingml/2006/main">
              <a:ext uri="{FF2B5EF4-FFF2-40B4-BE49-F238E27FC236}">
                <a16:creationId xmlns:a16="http://schemas.microsoft.com/office/drawing/2014/main" id="{A829D151-C77B-4946-B1DA-8E1D9FF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46" name="phase-7-bg">
            <a:extLst xmlns:a="http://schemas.openxmlformats.org/drawingml/2006/main">
              <a:ext uri="{FF2B5EF4-FFF2-40B4-BE49-F238E27FC236}">
                <a16:creationId xmlns:a16="http://schemas.microsoft.com/office/drawing/2014/main" id="{08357409-A08E-4366-9194-6F186EA7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47" name="phase-7-num-bg">
            <a:extLst xmlns:a="http://schemas.openxmlformats.org/drawingml/2006/main">
              <a:ext uri="{FF2B5EF4-FFF2-40B4-BE49-F238E27FC236}">
                <a16:creationId xmlns:a16="http://schemas.microsoft.com/office/drawing/2014/main" id="{1ED3EE9C-7CA7-4365-8AA1-B35E2B5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hase-7-num">
            <a:extLst xmlns:a="http://schemas.openxmlformats.org/drawingml/2006/main">
              <a:ext uri="{FF2B5EF4-FFF2-40B4-BE49-F238E27FC236}">
                <a16:creationId xmlns:a16="http://schemas.microsoft.com/office/drawing/2014/main" id="{74F4E27C-DF7A-4873-BC19-43DBB9B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7</a:t>
            </a:r>
          </a:p>
        </p:txBody>
      </p:sp>
      <p:sp>
        <p:nvSpPr>
          <p:cNvPr id="49" name="phase-7-title">
            <a:extLst xmlns:a="http://schemas.openxmlformats.org/drawingml/2006/main">
              <a:ext uri="{FF2B5EF4-FFF2-40B4-BE49-F238E27FC236}">
                <a16:creationId xmlns:a16="http://schemas.microsoft.com/office/drawing/2014/main" id="{208FAF29-3758-44AB-93FA-A7AC5DEB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评分卡与反馈</a:t>
            </a:r>
          </a:p>
        </p:txBody>
      </p:sp>
      <p:sp>
        <p:nvSpPr>
          <p:cNvPr id="50" name="phase-7-sub">
            <a:extLst xmlns:a="http://schemas.openxmlformats.org/drawingml/2006/main">
              <a:ext uri="{FF2B5EF4-FFF2-40B4-BE49-F238E27FC236}">
                <a16:creationId xmlns:a16="http://schemas.microsoft.com/office/drawing/2014/main" id="{382AD739-E009-4C9D-AED7-127826DB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事实记录</a:t>
            </a:r>
          </a:p>
        </p:txBody>
      </p:sp>
      <p:sp>
        <p:nvSpPr>
          <p:cNvPr id="51" name="phase-7-arrow">
            <a:extLst xmlns:a="http://schemas.openxmlformats.org/drawingml/2006/main">
              <a:ext uri="{FF2B5EF4-FFF2-40B4-BE49-F238E27FC236}">
                <a16:creationId xmlns:a16="http://schemas.microsoft.com/office/drawing/2014/main" id="{90CF3985-AA01-42CE-A693-7580B58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6588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52" name="phase-8-bg">
            <a:extLst xmlns:a="http://schemas.openxmlformats.org/drawingml/2006/main">
              <a:ext uri="{FF2B5EF4-FFF2-40B4-BE49-F238E27FC236}">
                <a16:creationId xmlns:a16="http://schemas.microsoft.com/office/drawing/2014/main" id="{2668811B-1A8E-4697-9C86-1EEC381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53" name="phase-8-num-bg">
            <a:extLst xmlns:a="http://schemas.openxmlformats.org/drawingml/2006/main">
              <a:ext uri="{FF2B5EF4-FFF2-40B4-BE49-F238E27FC236}">
                <a16:creationId xmlns:a16="http://schemas.microsoft.com/office/drawing/2014/main" id="{09B6B24A-2B71-482A-9F32-33B6898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613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hase-8-num">
            <a:extLst xmlns:a="http://schemas.openxmlformats.org/drawingml/2006/main">
              <a:ext uri="{FF2B5EF4-FFF2-40B4-BE49-F238E27FC236}">
                <a16:creationId xmlns:a16="http://schemas.microsoft.com/office/drawing/2014/main" id="{6AC238B2-6F17-49F9-B681-915B45D4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7088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8</a:t>
            </a:r>
          </a:p>
        </p:txBody>
      </p:sp>
      <p:sp>
        <p:nvSpPr>
          <p:cNvPr id="55" name="phase-8-title">
            <a:extLst xmlns:a="http://schemas.openxmlformats.org/drawingml/2006/main">
              <a:ext uri="{FF2B5EF4-FFF2-40B4-BE49-F238E27FC236}">
                <a16:creationId xmlns:a16="http://schemas.microsoft.com/office/drawing/2014/main" id="{3E6B83DD-8883-45D4-95F5-821D8AF9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038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HR 人工决策</a:t>
            </a:r>
          </a:p>
        </p:txBody>
      </p:sp>
      <p:sp>
        <p:nvSpPr>
          <p:cNvPr id="56" name="phase-8-sub">
            <a:extLst xmlns:a="http://schemas.openxmlformats.org/drawingml/2006/main">
              <a:ext uri="{FF2B5EF4-FFF2-40B4-BE49-F238E27FC236}">
                <a16:creationId xmlns:a16="http://schemas.microsoft.com/office/drawing/2014/main" id="{166BC3FF-CEEF-4532-AC00-56B6D32E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038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加面 / 录用 / 终结</a:t>
            </a:r>
          </a:p>
        </p:txBody>
      </p:sp>
      <p:sp>
        <p:nvSpPr>
          <p:cNvPr id="57" name="phase-8-arrow">
            <a:extLst xmlns:a="http://schemas.openxmlformats.org/drawingml/2006/main">
              <a:ext uri="{FF2B5EF4-FFF2-40B4-BE49-F238E27FC236}">
                <a16:creationId xmlns:a16="http://schemas.microsoft.com/office/drawing/2014/main" id="{08BC5EFC-5E02-4DEB-BCD4-6D2153A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58" name="phase-9-bg">
            <a:extLst xmlns:a="http://schemas.openxmlformats.org/drawingml/2006/main">
              <a:ext uri="{FF2B5EF4-FFF2-40B4-BE49-F238E27FC236}">
                <a16:creationId xmlns:a16="http://schemas.microsoft.com/office/drawing/2014/main" id="{142A349B-F5B1-4B71-8C9E-5496939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59" name="phase-9-num-bg">
            <a:extLst xmlns:a="http://schemas.openxmlformats.org/drawingml/2006/main">
              <a:ext uri="{FF2B5EF4-FFF2-40B4-BE49-F238E27FC236}">
                <a16:creationId xmlns:a16="http://schemas.microsoft.com/office/drawing/2014/main" id="{08C78C51-7B14-4DF2-B204-99015D1F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2457450"/>
            <a:ext cx="304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hase-9-num">
            <a:extLst xmlns:a="http://schemas.openxmlformats.org/drawingml/2006/main">
              <a:ext uri="{FF2B5EF4-FFF2-40B4-BE49-F238E27FC236}">
                <a16:creationId xmlns:a16="http://schemas.microsoft.com/office/drawing/2014/main" id="{05D8D6FD-AEB2-4A09-B89E-73AE680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2495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84D"/>
                </a:solidFill>
              </a:defRPr>
            </a:pPr>
            <a:r>
              <a:rPr sz="975" b="1">
                <a:solidFill>
                  <a:srgbClr val="14284D"/>
                </a:solidFill>
              </a:rPr>
              <a:t>9</a:t>
            </a:r>
          </a:p>
        </p:txBody>
      </p:sp>
      <p:sp>
        <p:nvSpPr>
          <p:cNvPr id="61" name="phase-9-title">
            <a:extLst xmlns:a="http://schemas.openxmlformats.org/drawingml/2006/main">
              <a:ext uri="{FF2B5EF4-FFF2-40B4-BE49-F238E27FC236}">
                <a16:creationId xmlns:a16="http://schemas.microsoft.com/office/drawing/2014/main" id="{D71A25D2-2C58-45AC-8621-0596EBB9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476500"/>
            <a:ext cx="1366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Offer 审批与签署</a:t>
            </a:r>
          </a:p>
        </p:txBody>
      </p:sp>
      <p:sp>
        <p:nvSpPr>
          <p:cNvPr id="62" name="phase-9-sub">
            <a:extLst xmlns:a="http://schemas.openxmlformats.org/drawingml/2006/main">
              <a:ext uri="{FF2B5EF4-FFF2-40B4-BE49-F238E27FC236}">
                <a16:creationId xmlns:a16="http://schemas.microsoft.com/office/drawing/2014/main" id="{48C66AB3-5BCD-424E-9BF6-05604D04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790825"/>
            <a:ext cx="1366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OA + 现有系统</a:t>
            </a:r>
          </a:p>
        </p:txBody>
      </p:sp>
      <p:sp>
        <p:nvSpPr>
          <p:cNvPr id="63" name="phase-9-arrow">
            <a:extLst xmlns:a="http://schemas.openxmlformats.org/drawingml/2006/main">
              <a:ext uri="{FF2B5EF4-FFF2-40B4-BE49-F238E27FC236}">
                <a16:creationId xmlns:a16="http://schemas.microsoft.com/office/drawing/2014/main" id="{19A9DEF0-3E3D-415C-9DBF-89B56260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13" y="2609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FA7D3"/>
                </a:solidFill>
              </a:defRPr>
            </a:pPr>
            <a:r>
              <a:rPr sz="2550" b="1">
                <a:solidFill>
                  <a:srgbClr val="8FA7D3"/>
                </a:solidFill>
              </a:rPr>
              <a:t>›</a:t>
            </a:r>
          </a:p>
        </p:txBody>
      </p:sp>
      <p:sp>
        <p:nvSpPr>
          <p:cNvPr id="64" name="phase-10-bg">
            <a:extLst xmlns:a="http://schemas.openxmlformats.org/drawingml/2006/main">
              <a:ext uri="{FF2B5EF4-FFF2-40B4-BE49-F238E27FC236}">
                <a16:creationId xmlns:a16="http://schemas.microsoft.com/office/drawing/2014/main" id="{2C8D467D-8A4F-447F-9F08-2518931B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2381250"/>
            <a:ext cx="18526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4D"/>
          </a:solidFill>
          <a:ln xmlns:a="http://schemas.openxmlformats.org/drawingml/2006/main" w="9525">
            <a:solidFill>
              <a:srgbClr val="425375"/>
            </a:solidFill>
            <a:prstDash val="solid"/>
          </a:ln>
        </p:spPr>
      </p:sp>
      <p:sp>
        <p:nvSpPr>
          <p:cNvPr id="65" name="phase-10-num-bg">
            <a:extLst xmlns:a="http://schemas.openxmlformats.org/drawingml/2006/main">
              <a:ext uri="{FF2B5EF4-FFF2-40B4-BE49-F238E27FC236}">
                <a16:creationId xmlns:a16="http://schemas.microsoft.com/office/drawing/2014/main" id="{03D77245-C836-4A0E-9FCF-13C423E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1838" y="2457450"/>
            <a:ext cx="4000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hase-10-num">
            <a:extLst xmlns:a="http://schemas.openxmlformats.org/drawingml/2006/main">
              <a:ext uri="{FF2B5EF4-FFF2-40B4-BE49-F238E27FC236}">
                <a16:creationId xmlns:a16="http://schemas.microsoft.com/office/drawing/2014/main" id="{60C89C5C-29DE-44CF-AF88-D5BD1152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313" y="24955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284D"/>
                </a:solidFill>
              </a:defRPr>
            </a:pPr>
            <a:r>
              <a:rPr sz="900" b="1">
                <a:solidFill>
                  <a:srgbClr val="14284D"/>
                </a:solidFill>
              </a:rPr>
              <a:t>10</a:t>
            </a:r>
          </a:p>
        </p:txBody>
      </p:sp>
      <p:sp>
        <p:nvSpPr>
          <p:cNvPr id="67" name="phase-10-title">
            <a:extLst xmlns:a="http://schemas.openxmlformats.org/drawingml/2006/main">
              <a:ext uri="{FF2B5EF4-FFF2-40B4-BE49-F238E27FC236}">
                <a16:creationId xmlns:a16="http://schemas.microsoft.com/office/drawing/2014/main" id="{6F8C9379-F5DC-4CB6-BB22-B99F4BC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9513" y="2476500"/>
            <a:ext cx="12715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入职与 HC 对账</a:t>
            </a:r>
          </a:p>
        </p:txBody>
      </p:sp>
      <p:sp>
        <p:nvSpPr>
          <p:cNvPr id="68" name="phase-10-sub">
            <a:extLst xmlns:a="http://schemas.openxmlformats.org/drawingml/2006/main">
              <a:ext uri="{FF2B5EF4-FFF2-40B4-BE49-F238E27FC236}">
                <a16:creationId xmlns:a16="http://schemas.microsoft.com/office/drawing/2014/main" id="{B338507C-BF93-4CBC-B5B5-E876F09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9513" y="2790825"/>
            <a:ext cx="12715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9DF"/>
                </a:solidFill>
              </a:defRPr>
            </a:pPr>
            <a:r>
              <a:rPr sz="975" b="0">
                <a:solidFill>
                  <a:srgbClr val="BDC9DF"/>
                </a:solidFill>
              </a:rPr>
              <a:t>HRIS 真源</a:t>
            </a:r>
          </a:p>
        </p:txBody>
      </p:sp>
      <p:sp>
        <p:nvSpPr>
          <p:cNvPr id="69" name="lane-1-bg">
            <a:extLst xmlns:a="http://schemas.openxmlformats.org/drawingml/2006/main">
              <a:ext uri="{FF2B5EF4-FFF2-40B4-BE49-F238E27FC236}">
                <a16:creationId xmlns:a16="http://schemas.microsoft.com/office/drawing/2014/main" id="{63D6A544-CAF0-4CBC-92D9-19579D6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57550"/>
            <a:ext cx="1714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0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C3AFC2C7-A91A-4ED0-8970-B1F6318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24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F8E"/>
                </a:solidFill>
              </a:defRPr>
            </a:pPr>
            <a:r>
              <a:rPr sz="1425" b="1">
                <a:solidFill>
                  <a:srgbClr val="173F8E"/>
                </a:solidFill>
              </a:rPr>
              <a:t>用人部门</a:t>
            </a:r>
          </a:p>
          <a:p xmlns:a="http://schemas.openxmlformats.org/drawingml/2006/main">
            <a:pPr algn="ctr">
              <a:defRPr sz="1425" b="1">
                <a:solidFill>
                  <a:srgbClr val="173F8E"/>
                </a:solidFill>
              </a:defRPr>
            </a:pPr>
            <a:r>
              <a:rPr sz="1425" b="1">
                <a:solidFill>
                  <a:srgbClr val="173F8E"/>
                </a:solidFill>
              </a:rPr>
              <a:t>需求发起人</a:t>
            </a:r>
          </a:p>
        </p:txBody>
      </p:sp>
      <p:sp>
        <p:nvSpPr>
          <p:cNvPr id="71" name="cell-1-1">
            <a:extLst xmlns:a="http://schemas.openxmlformats.org/drawingml/2006/main">
              <a:ext uri="{FF2B5EF4-FFF2-40B4-BE49-F238E27FC236}">
                <a16:creationId xmlns:a16="http://schemas.microsoft.com/office/drawing/2014/main" id="{6CA9EFEB-5E63-475E-ADE7-22BBDA7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2" name="cell-1-2">
            <a:extLst xmlns:a="http://schemas.openxmlformats.org/drawingml/2006/main">
              <a:ext uri="{FF2B5EF4-FFF2-40B4-BE49-F238E27FC236}">
                <a16:creationId xmlns:a16="http://schemas.microsoft.com/office/drawing/2014/main" id="{7EC5CA96-FB5F-496A-BC5B-0CD42DF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3" name="cell-1-3">
            <a:extLst xmlns:a="http://schemas.openxmlformats.org/drawingml/2006/main">
              <a:ext uri="{FF2B5EF4-FFF2-40B4-BE49-F238E27FC236}">
                <a16:creationId xmlns:a16="http://schemas.microsoft.com/office/drawing/2014/main" id="{B1B1B769-1EA9-40AD-B10F-9248C31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4" name="cell-1-4">
            <a:extLst xmlns:a="http://schemas.openxmlformats.org/drawingml/2006/main">
              <a:ext uri="{FF2B5EF4-FFF2-40B4-BE49-F238E27FC236}">
                <a16:creationId xmlns:a16="http://schemas.microsoft.com/office/drawing/2014/main" id="{D1E2F489-5738-4513-B120-5B64002B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5" name="cell-1-5">
            <a:extLst xmlns:a="http://schemas.openxmlformats.org/drawingml/2006/main">
              <a:ext uri="{FF2B5EF4-FFF2-40B4-BE49-F238E27FC236}">
                <a16:creationId xmlns:a16="http://schemas.microsoft.com/office/drawing/2014/main" id="{94DE0FAC-3A86-4F19-A1B8-5388911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6" name="cell-1-6">
            <a:extLst xmlns:a="http://schemas.openxmlformats.org/drawingml/2006/main">
              <a:ext uri="{FF2B5EF4-FFF2-40B4-BE49-F238E27FC236}">
                <a16:creationId xmlns:a16="http://schemas.microsoft.com/office/drawing/2014/main" id="{B5C3C27B-B110-45EC-B30A-3D0FBCF1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7" name="cell-1-7">
            <a:extLst xmlns:a="http://schemas.openxmlformats.org/drawingml/2006/main">
              <a:ext uri="{FF2B5EF4-FFF2-40B4-BE49-F238E27FC236}">
                <a16:creationId xmlns:a16="http://schemas.microsoft.com/office/drawing/2014/main" id="{4FF5FB58-C901-43FD-A2F9-6D68C58B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8" name="cell-1-8">
            <a:extLst xmlns:a="http://schemas.openxmlformats.org/drawingml/2006/main">
              <a:ext uri="{FF2B5EF4-FFF2-40B4-BE49-F238E27FC236}">
                <a16:creationId xmlns:a16="http://schemas.microsoft.com/office/drawing/2014/main" id="{B4B77375-2606-4317-A3E4-8D2D3EF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79" name="cell-1-9">
            <a:extLst xmlns:a="http://schemas.openxmlformats.org/drawingml/2006/main">
              <a:ext uri="{FF2B5EF4-FFF2-40B4-BE49-F238E27FC236}">
                <a16:creationId xmlns:a16="http://schemas.microsoft.com/office/drawing/2014/main" id="{43485DC7-CBC0-4843-9474-DFCBCE5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0" name="cell-1-10">
            <a:extLst xmlns:a="http://schemas.openxmlformats.org/drawingml/2006/main">
              <a:ext uri="{FF2B5EF4-FFF2-40B4-BE49-F238E27FC236}">
                <a16:creationId xmlns:a16="http://schemas.microsoft.com/office/drawing/2014/main" id="{E85B614D-7AAF-48E7-9DFB-5A6E423A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32575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1" name="lane-2-bg">
            <a:extLst xmlns:a="http://schemas.openxmlformats.org/drawingml/2006/main">
              <a:ext uri="{FF2B5EF4-FFF2-40B4-BE49-F238E27FC236}">
                <a16:creationId xmlns:a16="http://schemas.microsoft.com/office/drawing/2014/main" id="{7394D68C-EB0B-4CB1-BE10-04089B52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57725"/>
            <a:ext cx="1714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2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B5FF7337-4C5B-4EA1-B06B-3BE42D8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24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65000"/>
                </a:solidFill>
              </a:defRPr>
            </a:pPr>
            <a:r>
              <a:rPr sz="1425" b="1">
                <a:solidFill>
                  <a:srgbClr val="865000"/>
                </a:solidFill>
              </a:rPr>
              <a:t>OA / 企业微信 /</a:t>
            </a:r>
          </a:p>
          <a:p xmlns:a="http://schemas.openxmlformats.org/drawingml/2006/main">
            <a:pPr algn="ctr">
              <a:defRPr sz="1425" b="1">
                <a:solidFill>
                  <a:srgbClr val="865000"/>
                </a:solidFill>
              </a:defRPr>
            </a:pPr>
            <a:r>
              <a:rPr sz="1425" b="1">
                <a:solidFill>
                  <a:srgbClr val="865000"/>
                </a:solidFill>
              </a:rPr>
              <a:t>会议 / Offer / HRIS</a:t>
            </a:r>
          </a:p>
        </p:txBody>
      </p:sp>
      <p:sp>
        <p:nvSpPr>
          <p:cNvPr id="83" name="cell-2-1">
            <a:extLst xmlns:a="http://schemas.openxmlformats.org/drawingml/2006/main">
              <a:ext uri="{FF2B5EF4-FFF2-40B4-BE49-F238E27FC236}">
                <a16:creationId xmlns:a16="http://schemas.microsoft.com/office/drawing/2014/main" id="{8D7FCEEA-EC12-4C16-84E0-8177E4C5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4" name="cell-2-2">
            <a:extLst xmlns:a="http://schemas.openxmlformats.org/drawingml/2006/main">
              <a:ext uri="{FF2B5EF4-FFF2-40B4-BE49-F238E27FC236}">
                <a16:creationId xmlns:a16="http://schemas.microsoft.com/office/drawing/2014/main" id="{7091287E-CF04-4E48-8E1D-71F235F3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5" name="cell-2-3">
            <a:extLst xmlns:a="http://schemas.openxmlformats.org/drawingml/2006/main">
              <a:ext uri="{FF2B5EF4-FFF2-40B4-BE49-F238E27FC236}">
                <a16:creationId xmlns:a16="http://schemas.microsoft.com/office/drawing/2014/main" id="{2D88A331-5EA6-4B3A-B5B6-9B883ED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6" name="cell-2-4">
            <a:extLst xmlns:a="http://schemas.openxmlformats.org/drawingml/2006/main">
              <a:ext uri="{FF2B5EF4-FFF2-40B4-BE49-F238E27FC236}">
                <a16:creationId xmlns:a16="http://schemas.microsoft.com/office/drawing/2014/main" id="{41954D7D-9855-49E7-BCCD-CEBAF20D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7" name="cell-2-5">
            <a:extLst xmlns:a="http://schemas.openxmlformats.org/drawingml/2006/main">
              <a:ext uri="{FF2B5EF4-FFF2-40B4-BE49-F238E27FC236}">
                <a16:creationId xmlns:a16="http://schemas.microsoft.com/office/drawing/2014/main" id="{9540F4F7-F192-4C56-BE4D-E15C09B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8" name="cell-2-6">
            <a:extLst xmlns:a="http://schemas.openxmlformats.org/drawingml/2006/main">
              <a:ext uri="{FF2B5EF4-FFF2-40B4-BE49-F238E27FC236}">
                <a16:creationId xmlns:a16="http://schemas.microsoft.com/office/drawing/2014/main" id="{2F33C794-3728-4B3D-98B0-591083D3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89" name="cell-2-7">
            <a:extLst xmlns:a="http://schemas.openxmlformats.org/drawingml/2006/main">
              <a:ext uri="{FF2B5EF4-FFF2-40B4-BE49-F238E27FC236}">
                <a16:creationId xmlns:a16="http://schemas.microsoft.com/office/drawing/2014/main" id="{514DCA7A-AD2F-4080-9CFC-31A89C9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0" name="cell-2-8">
            <a:extLst xmlns:a="http://schemas.openxmlformats.org/drawingml/2006/main">
              <a:ext uri="{FF2B5EF4-FFF2-40B4-BE49-F238E27FC236}">
                <a16:creationId xmlns:a16="http://schemas.microsoft.com/office/drawing/2014/main" id="{A7C728B3-6FFD-4BA9-AE35-3962AC65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1" name="cell-2-9">
            <a:extLst xmlns:a="http://schemas.openxmlformats.org/drawingml/2006/main">
              <a:ext uri="{FF2B5EF4-FFF2-40B4-BE49-F238E27FC236}">
                <a16:creationId xmlns:a16="http://schemas.microsoft.com/office/drawing/2014/main" id="{30005DFA-7F39-43B3-BC58-ED05440E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2" name="cell-2-10">
            <a:extLst xmlns:a="http://schemas.openxmlformats.org/drawingml/2006/main">
              <a:ext uri="{FF2B5EF4-FFF2-40B4-BE49-F238E27FC236}">
                <a16:creationId xmlns:a16="http://schemas.microsoft.com/office/drawing/2014/main" id="{B197247C-FEC8-4C4B-91C5-596CAC1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46577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3" name="lane-3-bg">
            <a:extLst xmlns:a="http://schemas.openxmlformats.org/drawingml/2006/main">
              <a:ext uri="{FF2B5EF4-FFF2-40B4-BE49-F238E27FC236}">
                <a16:creationId xmlns:a16="http://schemas.microsoft.com/office/drawing/2014/main" id="{30141113-0284-40E6-8BDC-51A2E4B5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57900"/>
            <a:ext cx="1714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4" name="lane-3-label">
            <a:extLst xmlns:a="http://schemas.openxmlformats.org/drawingml/2006/main">
              <a:ext uri="{FF2B5EF4-FFF2-40B4-BE49-F238E27FC236}">
                <a16:creationId xmlns:a16="http://schemas.microsoft.com/office/drawing/2014/main" id="{11174F6B-0E50-46FE-A243-50C57B7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246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677B"/>
                </a:solidFill>
              </a:defRPr>
            </a:pPr>
            <a:r>
              <a:rPr sz="1425" b="1">
                <a:solidFill>
                  <a:srgbClr val="08677B"/>
                </a:solidFill>
              </a:rPr>
              <a:t>智聘系统</a:t>
            </a:r>
          </a:p>
        </p:txBody>
      </p:sp>
      <p:sp>
        <p:nvSpPr>
          <p:cNvPr id="95" name="cell-3-1">
            <a:extLst xmlns:a="http://schemas.openxmlformats.org/drawingml/2006/main">
              <a:ext uri="{FF2B5EF4-FFF2-40B4-BE49-F238E27FC236}">
                <a16:creationId xmlns:a16="http://schemas.microsoft.com/office/drawing/2014/main" id="{98C00435-BD35-45EE-A205-B9E455F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6" name="cell-3-2">
            <a:extLst xmlns:a="http://schemas.openxmlformats.org/drawingml/2006/main">
              <a:ext uri="{FF2B5EF4-FFF2-40B4-BE49-F238E27FC236}">
                <a16:creationId xmlns:a16="http://schemas.microsoft.com/office/drawing/2014/main" id="{78043DE5-3849-4E2C-BD91-FEFE865E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7" name="cell-3-3">
            <a:extLst xmlns:a="http://schemas.openxmlformats.org/drawingml/2006/main">
              <a:ext uri="{FF2B5EF4-FFF2-40B4-BE49-F238E27FC236}">
                <a16:creationId xmlns:a16="http://schemas.microsoft.com/office/drawing/2014/main" id="{25ED7ABE-134C-4C6D-BE62-746C686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8" name="cell-3-4">
            <a:extLst xmlns:a="http://schemas.openxmlformats.org/drawingml/2006/main">
              <a:ext uri="{FF2B5EF4-FFF2-40B4-BE49-F238E27FC236}">
                <a16:creationId xmlns:a16="http://schemas.microsoft.com/office/drawing/2014/main" id="{ABC56462-1B34-4F8D-A8E7-1A3188BC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99" name="cell-3-5">
            <a:extLst xmlns:a="http://schemas.openxmlformats.org/drawingml/2006/main">
              <a:ext uri="{FF2B5EF4-FFF2-40B4-BE49-F238E27FC236}">
                <a16:creationId xmlns:a16="http://schemas.microsoft.com/office/drawing/2014/main" id="{5C398E5B-C4EA-42B4-AFB5-E384E3E6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0" name="cell-3-6">
            <a:extLst xmlns:a="http://schemas.openxmlformats.org/drawingml/2006/main">
              <a:ext uri="{FF2B5EF4-FFF2-40B4-BE49-F238E27FC236}">
                <a16:creationId xmlns:a16="http://schemas.microsoft.com/office/drawing/2014/main" id="{37D7DA19-3F40-4C1E-A345-822717B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1" name="cell-3-7">
            <a:extLst xmlns:a="http://schemas.openxmlformats.org/drawingml/2006/main">
              <a:ext uri="{FF2B5EF4-FFF2-40B4-BE49-F238E27FC236}">
                <a16:creationId xmlns:a16="http://schemas.microsoft.com/office/drawing/2014/main" id="{AEF2FC30-67C0-4703-9E37-4DAD9ACE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2" name="cell-3-8">
            <a:extLst xmlns:a="http://schemas.openxmlformats.org/drawingml/2006/main">
              <a:ext uri="{FF2B5EF4-FFF2-40B4-BE49-F238E27FC236}">
                <a16:creationId xmlns:a16="http://schemas.microsoft.com/office/drawing/2014/main" id="{5170D283-B832-4486-81ED-30067CB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3" name="cell-3-9">
            <a:extLst xmlns:a="http://schemas.openxmlformats.org/drawingml/2006/main">
              <a:ext uri="{FF2B5EF4-FFF2-40B4-BE49-F238E27FC236}">
                <a16:creationId xmlns:a16="http://schemas.microsoft.com/office/drawing/2014/main" id="{9C4F6C83-039E-466C-996B-523D6E8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4" name="cell-3-10">
            <a:extLst xmlns:a="http://schemas.openxmlformats.org/drawingml/2006/main">
              <a:ext uri="{FF2B5EF4-FFF2-40B4-BE49-F238E27FC236}">
                <a16:creationId xmlns:a16="http://schemas.microsoft.com/office/drawing/2014/main" id="{B615AEA5-E12D-426C-9EDF-01F7534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605790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5" name="lane-4-bg">
            <a:extLst xmlns:a="http://schemas.openxmlformats.org/drawingml/2006/main">
              <a:ext uri="{FF2B5EF4-FFF2-40B4-BE49-F238E27FC236}">
                <a16:creationId xmlns:a16="http://schemas.microsoft.com/office/drawing/2014/main" id="{FCBD4A47-13C1-46E4-8B09-4FC3E2D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458075"/>
            <a:ext cx="1714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6" name="lane-4-label">
            <a:extLst xmlns:a="http://schemas.openxmlformats.org/drawingml/2006/main">
              <a:ext uri="{FF2B5EF4-FFF2-40B4-BE49-F238E27FC236}">
                <a16:creationId xmlns:a16="http://schemas.microsoft.com/office/drawing/2014/main" id="{5756D84D-633C-49FA-A19B-2D0ADDA8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924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449A"/>
                </a:solidFill>
              </a:defRPr>
            </a:pPr>
            <a:r>
              <a:rPr sz="1425" b="1">
                <a:solidFill>
                  <a:srgbClr val="18449A"/>
                </a:solidFill>
              </a:rPr>
              <a:t>招聘专员</a:t>
            </a:r>
          </a:p>
        </p:txBody>
      </p:sp>
      <p:sp>
        <p:nvSpPr>
          <p:cNvPr id="107" name="cell-4-1">
            <a:extLst xmlns:a="http://schemas.openxmlformats.org/drawingml/2006/main">
              <a:ext uri="{FF2B5EF4-FFF2-40B4-BE49-F238E27FC236}">
                <a16:creationId xmlns:a16="http://schemas.microsoft.com/office/drawing/2014/main" id="{6D320DC0-9B3F-4A85-A05E-96A725E1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8" name="cell-4-2">
            <a:extLst xmlns:a="http://schemas.openxmlformats.org/drawingml/2006/main">
              <a:ext uri="{FF2B5EF4-FFF2-40B4-BE49-F238E27FC236}">
                <a16:creationId xmlns:a16="http://schemas.microsoft.com/office/drawing/2014/main" id="{558D1CA6-2CE7-4ABF-81C8-BBD87CB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09" name="cell-4-3">
            <a:extLst xmlns:a="http://schemas.openxmlformats.org/drawingml/2006/main">
              <a:ext uri="{FF2B5EF4-FFF2-40B4-BE49-F238E27FC236}">
                <a16:creationId xmlns:a16="http://schemas.microsoft.com/office/drawing/2014/main" id="{51B8A86E-B32B-4CAB-A673-198FBDB3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0" name="cell-4-4">
            <a:extLst xmlns:a="http://schemas.openxmlformats.org/drawingml/2006/main">
              <a:ext uri="{FF2B5EF4-FFF2-40B4-BE49-F238E27FC236}">
                <a16:creationId xmlns:a16="http://schemas.microsoft.com/office/drawing/2014/main" id="{60B55CA6-2B3C-4377-B540-CC7A26C2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1" name="cell-4-5">
            <a:extLst xmlns:a="http://schemas.openxmlformats.org/drawingml/2006/main">
              <a:ext uri="{FF2B5EF4-FFF2-40B4-BE49-F238E27FC236}">
                <a16:creationId xmlns:a16="http://schemas.microsoft.com/office/drawing/2014/main" id="{5DB3F4DD-53C1-4E08-846F-460DE82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2" name="cell-4-6">
            <a:extLst xmlns:a="http://schemas.openxmlformats.org/drawingml/2006/main">
              <a:ext uri="{FF2B5EF4-FFF2-40B4-BE49-F238E27FC236}">
                <a16:creationId xmlns:a16="http://schemas.microsoft.com/office/drawing/2014/main" id="{B930F4B1-9C25-4525-87F1-266DE7E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3" name="cell-4-7">
            <a:extLst xmlns:a="http://schemas.openxmlformats.org/drawingml/2006/main">
              <a:ext uri="{FF2B5EF4-FFF2-40B4-BE49-F238E27FC236}">
                <a16:creationId xmlns:a16="http://schemas.microsoft.com/office/drawing/2014/main" id="{09119ED0-92F2-4244-B08E-3606FFE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4" name="cell-4-8">
            <a:extLst xmlns:a="http://schemas.openxmlformats.org/drawingml/2006/main">
              <a:ext uri="{FF2B5EF4-FFF2-40B4-BE49-F238E27FC236}">
                <a16:creationId xmlns:a16="http://schemas.microsoft.com/office/drawing/2014/main" id="{340BE6B7-F980-4207-B7AB-7BB031AA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5" name="cell-4-9">
            <a:extLst xmlns:a="http://schemas.openxmlformats.org/drawingml/2006/main">
              <a:ext uri="{FF2B5EF4-FFF2-40B4-BE49-F238E27FC236}">
                <a16:creationId xmlns:a16="http://schemas.microsoft.com/office/drawing/2014/main" id="{5FE1BB55-2122-467B-BD00-D52F5B40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6" name="cell-4-10">
            <a:extLst xmlns:a="http://schemas.openxmlformats.org/drawingml/2006/main">
              <a:ext uri="{FF2B5EF4-FFF2-40B4-BE49-F238E27FC236}">
                <a16:creationId xmlns:a16="http://schemas.microsoft.com/office/drawing/2014/main" id="{0C6F098D-64F6-40DE-850F-2F31F87F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745807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7" name="lane-5-bg">
            <a:extLst xmlns:a="http://schemas.openxmlformats.org/drawingml/2006/main">
              <a:ext uri="{FF2B5EF4-FFF2-40B4-BE49-F238E27FC236}">
                <a16:creationId xmlns:a16="http://schemas.microsoft.com/office/drawing/2014/main" id="{CFF61BE0-4DB9-4F08-90CA-FABD62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858250"/>
            <a:ext cx="1714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18" name="lane-5-label">
            <a:extLst xmlns:a="http://schemas.openxmlformats.org/drawingml/2006/main">
              <a:ext uri="{FF2B5EF4-FFF2-40B4-BE49-F238E27FC236}">
                <a16:creationId xmlns:a16="http://schemas.microsoft.com/office/drawing/2014/main" id="{3556455B-B528-4FF9-B670-DF15473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3249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3AA8"/>
                </a:solidFill>
              </a:defRPr>
            </a:pPr>
            <a:r>
              <a:rPr sz="1425" b="1">
                <a:solidFill>
                  <a:srgbClr val="533AA8"/>
                </a:solidFill>
              </a:rPr>
              <a:t>面试官</a:t>
            </a:r>
          </a:p>
        </p:txBody>
      </p:sp>
      <p:sp>
        <p:nvSpPr>
          <p:cNvPr id="119" name="cell-5-1">
            <a:extLst xmlns:a="http://schemas.openxmlformats.org/drawingml/2006/main">
              <a:ext uri="{FF2B5EF4-FFF2-40B4-BE49-F238E27FC236}">
                <a16:creationId xmlns:a16="http://schemas.microsoft.com/office/drawing/2014/main" id="{2BBD541F-9656-4514-9F74-0C53B4DE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0" name="cell-5-2">
            <a:extLst xmlns:a="http://schemas.openxmlformats.org/drawingml/2006/main">
              <a:ext uri="{FF2B5EF4-FFF2-40B4-BE49-F238E27FC236}">
                <a16:creationId xmlns:a16="http://schemas.microsoft.com/office/drawing/2014/main" id="{B38B5B6D-9F1E-483E-AA51-1BBCBA3F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1" name="cell-5-3">
            <a:extLst xmlns:a="http://schemas.openxmlformats.org/drawingml/2006/main">
              <a:ext uri="{FF2B5EF4-FFF2-40B4-BE49-F238E27FC236}">
                <a16:creationId xmlns:a16="http://schemas.microsoft.com/office/drawing/2014/main" id="{E8201A80-47A2-4AA7-B541-B0DA5B4E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2" name="cell-5-4">
            <a:extLst xmlns:a="http://schemas.openxmlformats.org/drawingml/2006/main">
              <a:ext uri="{FF2B5EF4-FFF2-40B4-BE49-F238E27FC236}">
                <a16:creationId xmlns:a16="http://schemas.microsoft.com/office/drawing/2014/main" id="{3971197C-284F-46CB-8994-7618C7E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3" name="cell-5-5">
            <a:extLst xmlns:a="http://schemas.openxmlformats.org/drawingml/2006/main">
              <a:ext uri="{FF2B5EF4-FFF2-40B4-BE49-F238E27FC236}">
                <a16:creationId xmlns:a16="http://schemas.microsoft.com/office/drawing/2014/main" id="{E8DEEF32-A247-4B2A-AC78-14D805F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4" name="cell-5-6">
            <a:extLst xmlns:a="http://schemas.openxmlformats.org/drawingml/2006/main">
              <a:ext uri="{FF2B5EF4-FFF2-40B4-BE49-F238E27FC236}">
                <a16:creationId xmlns:a16="http://schemas.microsoft.com/office/drawing/2014/main" id="{69386544-07A8-425F-9730-AE4AEAA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5" name="cell-5-7">
            <a:extLst xmlns:a="http://schemas.openxmlformats.org/drawingml/2006/main">
              <a:ext uri="{FF2B5EF4-FFF2-40B4-BE49-F238E27FC236}">
                <a16:creationId xmlns:a16="http://schemas.microsoft.com/office/drawing/2014/main" id="{EBABEEC4-14C6-4A2D-B4B8-AFE47E5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6" name="cell-5-8">
            <a:extLst xmlns:a="http://schemas.openxmlformats.org/drawingml/2006/main">
              <a:ext uri="{FF2B5EF4-FFF2-40B4-BE49-F238E27FC236}">
                <a16:creationId xmlns:a16="http://schemas.microsoft.com/office/drawing/2014/main" id="{63E29DE6-6B80-4B12-9082-78515A2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7" name="cell-5-9">
            <a:extLst xmlns:a="http://schemas.openxmlformats.org/drawingml/2006/main">
              <a:ext uri="{FF2B5EF4-FFF2-40B4-BE49-F238E27FC236}">
                <a16:creationId xmlns:a16="http://schemas.microsoft.com/office/drawing/2014/main" id="{E7E02332-9B77-49D3-99DC-EA53036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8" name="cell-5-10">
            <a:extLst xmlns:a="http://schemas.openxmlformats.org/drawingml/2006/main">
              <a:ext uri="{FF2B5EF4-FFF2-40B4-BE49-F238E27FC236}">
                <a16:creationId xmlns:a16="http://schemas.microsoft.com/office/drawing/2014/main" id="{7B37A78B-7D94-4453-B3FF-A95BA76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8858250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29" name="lane-6-bg">
            <a:extLst xmlns:a="http://schemas.openxmlformats.org/drawingml/2006/main">
              <a:ext uri="{FF2B5EF4-FFF2-40B4-BE49-F238E27FC236}">
                <a16:creationId xmlns:a16="http://schemas.microsoft.com/office/drawing/2014/main" id="{ED07ED61-10A8-4C3D-AC70-065B55B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258425"/>
            <a:ext cx="1714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F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0" name="lane-6-label">
            <a:extLst xmlns:a="http://schemas.openxmlformats.org/drawingml/2006/main">
              <a:ext uri="{FF2B5EF4-FFF2-40B4-BE49-F238E27FC236}">
                <a16:creationId xmlns:a16="http://schemas.microsoft.com/office/drawing/2014/main" id="{1D50F54D-CAB4-4086-AC39-A8ABC59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7251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C6C4B"/>
                </a:solidFill>
              </a:defRPr>
            </a:pPr>
            <a:r>
              <a:rPr sz="1425" b="1">
                <a:solidFill>
                  <a:srgbClr val="0C6C4B"/>
                </a:solidFill>
              </a:rPr>
              <a:t>候选人</a:t>
            </a:r>
          </a:p>
        </p:txBody>
      </p:sp>
      <p:sp>
        <p:nvSpPr>
          <p:cNvPr id="131" name="cell-6-1">
            <a:extLst xmlns:a="http://schemas.openxmlformats.org/drawingml/2006/main">
              <a:ext uri="{FF2B5EF4-FFF2-40B4-BE49-F238E27FC236}">
                <a16:creationId xmlns:a16="http://schemas.microsoft.com/office/drawing/2014/main" id="{559E17F6-6AE6-4358-AA8E-74F872CE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2" name="cell-6-2">
            <a:extLst xmlns:a="http://schemas.openxmlformats.org/drawingml/2006/main">
              <a:ext uri="{FF2B5EF4-FFF2-40B4-BE49-F238E27FC236}">
                <a16:creationId xmlns:a16="http://schemas.microsoft.com/office/drawing/2014/main" id="{6ED52A07-B1A6-4C48-B08E-387E1881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3" name="cell-6-3">
            <a:extLst xmlns:a="http://schemas.openxmlformats.org/drawingml/2006/main">
              <a:ext uri="{FF2B5EF4-FFF2-40B4-BE49-F238E27FC236}">
                <a16:creationId xmlns:a16="http://schemas.microsoft.com/office/drawing/2014/main" id="{31262D11-9C97-40FB-8ADD-FA44454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4" name="cell-6-4">
            <a:extLst xmlns:a="http://schemas.openxmlformats.org/drawingml/2006/main">
              <a:ext uri="{FF2B5EF4-FFF2-40B4-BE49-F238E27FC236}">
                <a16:creationId xmlns:a16="http://schemas.microsoft.com/office/drawing/2014/main" id="{E099D5A4-60A3-4D34-9AFC-3F91211E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5" name="cell-6-5">
            <a:extLst xmlns:a="http://schemas.openxmlformats.org/drawingml/2006/main">
              <a:ext uri="{FF2B5EF4-FFF2-40B4-BE49-F238E27FC236}">
                <a16:creationId xmlns:a16="http://schemas.microsoft.com/office/drawing/2014/main" id="{F8011A53-5E78-480B-9068-9E250DF2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6" name="cell-6-6">
            <a:extLst xmlns:a="http://schemas.openxmlformats.org/drawingml/2006/main">
              <a:ext uri="{FF2B5EF4-FFF2-40B4-BE49-F238E27FC236}">
                <a16:creationId xmlns:a16="http://schemas.microsoft.com/office/drawing/2014/main" id="{4EB9B5D0-DFC0-4C4D-A20C-2BC5BEF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7" name="cell-6-7">
            <a:extLst xmlns:a="http://schemas.openxmlformats.org/drawingml/2006/main">
              <a:ext uri="{FF2B5EF4-FFF2-40B4-BE49-F238E27FC236}">
                <a16:creationId xmlns:a16="http://schemas.microsoft.com/office/drawing/2014/main" id="{F81D1D91-216C-4295-BDBE-C024E961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8" name="cell-6-8">
            <a:extLst xmlns:a="http://schemas.openxmlformats.org/drawingml/2006/main">
              <a:ext uri="{FF2B5EF4-FFF2-40B4-BE49-F238E27FC236}">
                <a16:creationId xmlns:a16="http://schemas.microsoft.com/office/drawing/2014/main" id="{ECEBEB61-ED27-4339-9735-B5B7F86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413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39" name="cell-6-9">
            <a:extLst xmlns:a="http://schemas.openxmlformats.org/drawingml/2006/main">
              <a:ext uri="{FF2B5EF4-FFF2-40B4-BE49-F238E27FC236}">
                <a16:creationId xmlns:a16="http://schemas.microsoft.com/office/drawing/2014/main" id="{BA34E73B-736C-416B-9891-D2D8C29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40" name="cell-6-10">
            <a:extLst xmlns:a="http://schemas.openxmlformats.org/drawingml/2006/main">
              <a:ext uri="{FF2B5EF4-FFF2-40B4-BE49-F238E27FC236}">
                <a16:creationId xmlns:a16="http://schemas.microsoft.com/office/drawing/2014/main" id="{5F0BED16-4573-48DD-82B1-15033E01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38" y="10258425"/>
            <a:ext cx="1852613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141" name="dept-submit-bg">
            <a:extLst xmlns:a="http://schemas.openxmlformats.org/drawingml/2006/main">
              <a:ext uri="{FF2B5EF4-FFF2-40B4-BE49-F238E27FC236}">
                <a16:creationId xmlns:a16="http://schemas.microsoft.com/office/drawing/2014/main" id="{9C6EB77E-0B8E-4E21-BE9F-5585953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6232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8"/>
            </a:solidFill>
            <a:prstDash val="solid"/>
          </a:ln>
        </p:spPr>
      </p:sp>
      <p:sp>
        <p:nvSpPr>
          <p:cNvPr id="142" name="dept-submit-title">
            <a:extLst xmlns:a="http://schemas.openxmlformats.org/drawingml/2006/main">
              <a:ext uri="{FF2B5EF4-FFF2-40B4-BE49-F238E27FC236}">
                <a16:creationId xmlns:a16="http://schemas.microsoft.com/office/drawing/2014/main" id="{8D4B0612-99CA-4E4B-B347-1A221AA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2900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8E"/>
                </a:solidFill>
              </a:defRPr>
            </a:pPr>
            <a:r>
              <a:rPr sz="1275" b="1">
                <a:solidFill>
                  <a:srgbClr val="173F8E"/>
                </a:solidFill>
              </a:rPr>
              <a:t>在 OA 提交招聘需求</a:t>
            </a:r>
          </a:p>
        </p:txBody>
      </p:sp>
      <p:sp>
        <p:nvSpPr>
          <p:cNvPr id="143" name="dept-submit-body">
            <a:extLst xmlns:a="http://schemas.openxmlformats.org/drawingml/2006/main">
              <a:ext uri="{FF2B5EF4-FFF2-40B4-BE49-F238E27FC236}">
                <a16:creationId xmlns:a16="http://schemas.microsoft.com/office/drawing/2014/main" id="{7F6240DF-18A9-4835-A99E-7B1DD87D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填写岗位 / JD、HC、部门、申请人及附件。</a:t>
            </a:r>
          </a:p>
        </p:txBody>
      </p:sp>
      <p:sp>
        <p:nvSpPr>
          <p:cNvPr id="144" name="oa-mq-bg">
            <a:extLst xmlns:a="http://schemas.openxmlformats.org/drawingml/2006/main">
              <a:ext uri="{FF2B5EF4-FFF2-40B4-BE49-F238E27FC236}">
                <a16:creationId xmlns:a16="http://schemas.microsoft.com/office/drawing/2014/main" id="{E224E370-B1DE-47C9-8F13-042ACCE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47625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145" name="oa-mq-title">
            <a:extLst xmlns:a="http://schemas.openxmlformats.org/drawingml/2006/main">
              <a:ext uri="{FF2B5EF4-FFF2-40B4-BE49-F238E27FC236}">
                <a16:creationId xmlns:a16="http://schemas.microsoft.com/office/drawing/2014/main" id="{AF991C21-2B09-410D-BFE7-A199C8CF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48291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OA 审批通过并发布 MQ</a:t>
            </a:r>
          </a:p>
        </p:txBody>
      </p:sp>
      <p:sp>
        <p:nvSpPr>
          <p:cNvPr id="146" name="oa-mq-body">
            <a:extLst xmlns:a="http://schemas.openxmlformats.org/drawingml/2006/main">
              <a:ext uri="{FF2B5EF4-FFF2-40B4-BE49-F238E27FC236}">
                <a16:creationId xmlns:a16="http://schemas.microsoft.com/office/drawing/2014/main" id="{B687FE89-C852-49C0-AAD1-E8E4F6F9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5229225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OA 是需求审批真源；智聘不主动生成原始需求。</a:t>
            </a:r>
          </a:p>
        </p:txBody>
      </p:sp>
      <p:sp>
        <p:nvSpPr>
          <p:cNvPr id="147" name="oa-mq-tag-bg">
            <a:extLst xmlns:a="http://schemas.openxmlformats.org/drawingml/2006/main">
              <a:ext uri="{FF2B5EF4-FFF2-40B4-BE49-F238E27FC236}">
                <a16:creationId xmlns:a16="http://schemas.microsoft.com/office/drawing/2014/main" id="{543E0784-6215-40FF-9C26-CFD75BA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5657850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oa-mq-tag">
            <a:extLst xmlns:a="http://schemas.openxmlformats.org/drawingml/2006/main">
              <a:ext uri="{FF2B5EF4-FFF2-40B4-BE49-F238E27FC236}">
                <a16:creationId xmlns:a16="http://schemas.microsoft.com/office/drawing/2014/main" id="{8C76E78A-C50A-4961-A768-020899B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5695950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① OA → 智聘</a:t>
            </a:r>
          </a:p>
        </p:txBody>
      </p:sp>
      <p:sp>
        <p:nvSpPr>
          <p:cNvPr id="149" name="wecom-material-bg">
            <a:extLst xmlns:a="http://schemas.openxmlformats.org/drawingml/2006/main">
              <a:ext uri="{FF2B5EF4-FFF2-40B4-BE49-F238E27FC236}">
                <a16:creationId xmlns:a16="http://schemas.microsoft.com/office/drawing/2014/main" id="{1C70E5FD-B2F2-4FF1-A66D-BF5EDB16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7625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150" name="wecom-material-title">
            <a:extLst xmlns:a="http://schemas.openxmlformats.org/drawingml/2006/main">
              <a:ext uri="{FF2B5EF4-FFF2-40B4-BE49-F238E27FC236}">
                <a16:creationId xmlns:a16="http://schemas.microsoft.com/office/drawing/2014/main" id="{BFF3A3E5-186A-442E-B4FB-FEB802F8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48291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企业微信发送资料</a:t>
            </a:r>
          </a:p>
        </p:txBody>
      </p:sp>
      <p:sp>
        <p:nvSpPr>
          <p:cNvPr id="151" name="wecom-material-body">
            <a:extLst xmlns:a="http://schemas.openxmlformats.org/drawingml/2006/main">
              <a:ext uri="{FF2B5EF4-FFF2-40B4-BE49-F238E27FC236}">
                <a16:creationId xmlns:a16="http://schemas.microsoft.com/office/drawing/2014/main" id="{343086FF-C55B-44C0-BCB4-8FB9AC64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5229225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把候选人摘要和安全简历入口触达面试官。</a:t>
            </a:r>
          </a:p>
        </p:txBody>
      </p:sp>
      <p:sp>
        <p:nvSpPr>
          <p:cNvPr id="152" name="wecom-material-tag-bg">
            <a:extLst xmlns:a="http://schemas.openxmlformats.org/drawingml/2006/main">
              <a:ext uri="{FF2B5EF4-FFF2-40B4-BE49-F238E27FC236}">
                <a16:creationId xmlns:a16="http://schemas.microsoft.com/office/drawing/2014/main" id="{58233D5A-BC80-444E-B1AD-29E7620C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5657850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wecom-material-tag">
            <a:extLst xmlns:a="http://schemas.openxmlformats.org/drawingml/2006/main">
              <a:ext uri="{FF2B5EF4-FFF2-40B4-BE49-F238E27FC236}">
                <a16:creationId xmlns:a16="http://schemas.microsoft.com/office/drawing/2014/main" id="{735385DC-B8B4-4BA9-A0B7-E3DBB2A7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5695950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② 企业微信</a:t>
            </a:r>
          </a:p>
        </p:txBody>
      </p:sp>
      <p:sp>
        <p:nvSpPr>
          <p:cNvPr id="154" name="calendar-meeting-bg">
            <a:extLst xmlns:a="http://schemas.openxmlformats.org/drawingml/2006/main">
              <a:ext uri="{FF2B5EF4-FFF2-40B4-BE49-F238E27FC236}">
                <a16:creationId xmlns:a16="http://schemas.microsoft.com/office/drawing/2014/main" id="{FFDF7974-E610-4740-9DF2-7C5D062E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155" name="calendar-meeting-title">
            <a:extLst xmlns:a="http://schemas.openxmlformats.org/drawingml/2006/main">
              <a:ext uri="{FF2B5EF4-FFF2-40B4-BE49-F238E27FC236}">
                <a16:creationId xmlns:a16="http://schemas.microsoft.com/office/drawing/2014/main" id="{2E5B65DD-AB91-4546-AE81-1A851B91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291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创建日程 / 会议</a:t>
            </a:r>
          </a:p>
        </p:txBody>
      </p:sp>
      <p:sp>
        <p:nvSpPr>
          <p:cNvPr id="156" name="calendar-meeting-body">
            <a:extLst xmlns:a="http://schemas.openxmlformats.org/drawingml/2006/main">
              <a:ext uri="{FF2B5EF4-FFF2-40B4-BE49-F238E27FC236}">
                <a16:creationId xmlns:a16="http://schemas.microsoft.com/office/drawing/2014/main" id="{42937779-E8D0-43BC-951F-482600A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29225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返回会议链接、会议室或地点。</a:t>
            </a:r>
          </a:p>
        </p:txBody>
      </p:sp>
      <p:sp>
        <p:nvSpPr>
          <p:cNvPr id="157" name="calendar-meeting-tag-bg">
            <a:extLst xmlns:a="http://schemas.openxmlformats.org/drawingml/2006/main">
              <a:ext uri="{FF2B5EF4-FFF2-40B4-BE49-F238E27FC236}">
                <a16:creationId xmlns:a16="http://schemas.microsoft.com/office/drawing/2014/main" id="{1036AE12-221F-41B1-A93A-5A2D513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57850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calendar-meeting-tag">
            <a:extLst xmlns:a="http://schemas.openxmlformats.org/drawingml/2006/main">
              <a:ext uri="{FF2B5EF4-FFF2-40B4-BE49-F238E27FC236}">
                <a16:creationId xmlns:a16="http://schemas.microsoft.com/office/drawing/2014/main" id="{BF70450C-B326-4D9A-B33B-2A439003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695950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③ 日程 + 会议</a:t>
            </a:r>
          </a:p>
        </p:txBody>
      </p:sp>
      <p:sp>
        <p:nvSpPr>
          <p:cNvPr id="159" name="wecom-score-bg">
            <a:extLst xmlns:a="http://schemas.openxmlformats.org/drawingml/2006/main">
              <a:ext uri="{FF2B5EF4-FFF2-40B4-BE49-F238E27FC236}">
                <a16:creationId xmlns:a16="http://schemas.microsoft.com/office/drawing/2014/main" id="{2A166B2B-3335-4EE3-9A8F-8D6097E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47625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160" name="wecom-score-title">
            <a:extLst xmlns:a="http://schemas.openxmlformats.org/drawingml/2006/main">
              <a:ext uri="{FF2B5EF4-FFF2-40B4-BE49-F238E27FC236}">
                <a16:creationId xmlns:a16="http://schemas.microsoft.com/office/drawing/2014/main" id="{49973BEB-5EAA-4DBD-A499-CEA493D3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48291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企业微信承载评分卡</a:t>
            </a:r>
          </a:p>
        </p:txBody>
      </p:sp>
      <p:sp>
        <p:nvSpPr>
          <p:cNvPr id="161" name="wecom-score-body">
            <a:extLst xmlns:a="http://schemas.openxmlformats.org/drawingml/2006/main">
              <a:ext uri="{FF2B5EF4-FFF2-40B4-BE49-F238E27FC236}">
                <a16:creationId xmlns:a16="http://schemas.microsoft.com/office/drawing/2014/main" id="{C856B578-CCF7-4D2C-9F12-FCECC097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229225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推送 JD 评分项，并把面试官结果回传智聘。</a:t>
            </a:r>
          </a:p>
        </p:txBody>
      </p:sp>
      <p:sp>
        <p:nvSpPr>
          <p:cNvPr id="162" name="wecom-score-tag-bg">
            <a:extLst xmlns:a="http://schemas.openxmlformats.org/drawingml/2006/main">
              <a:ext uri="{FF2B5EF4-FFF2-40B4-BE49-F238E27FC236}">
                <a16:creationId xmlns:a16="http://schemas.microsoft.com/office/drawing/2014/main" id="{EDEFCDBF-A73F-405C-BBA2-08A5DEB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657850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wecom-score-tag">
            <a:extLst xmlns:a="http://schemas.openxmlformats.org/drawingml/2006/main">
              <a:ext uri="{FF2B5EF4-FFF2-40B4-BE49-F238E27FC236}">
                <a16:creationId xmlns:a16="http://schemas.microsoft.com/office/drawing/2014/main" id="{874B6E32-A5DA-4852-B5A4-DE302F44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695950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② 企业微信</a:t>
            </a:r>
          </a:p>
        </p:txBody>
      </p:sp>
      <p:sp>
        <p:nvSpPr>
          <p:cNvPr id="164" name="offer-systems-bg">
            <a:extLst xmlns:a="http://schemas.openxmlformats.org/drawingml/2006/main">
              <a:ext uri="{FF2B5EF4-FFF2-40B4-BE49-F238E27FC236}">
                <a16:creationId xmlns:a16="http://schemas.microsoft.com/office/drawing/2014/main" id="{3E4FE25E-D741-47DC-B2D2-5332626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47625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165" name="offer-systems-title">
            <a:extLst xmlns:a="http://schemas.openxmlformats.org/drawingml/2006/main">
              <a:ext uri="{FF2B5EF4-FFF2-40B4-BE49-F238E27FC236}">
                <a16:creationId xmlns:a16="http://schemas.microsoft.com/office/drawing/2014/main" id="{71BCBB32-89EB-4A27-92E5-5BD01369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48291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OA 审批 → 发放 / 电子签</a:t>
            </a:r>
          </a:p>
        </p:txBody>
      </p:sp>
      <p:sp>
        <p:nvSpPr>
          <p:cNvPr id="166" name="offer-systems-body">
            <a:extLst xmlns:a="http://schemas.openxmlformats.org/drawingml/2006/main">
              <a:ext uri="{FF2B5EF4-FFF2-40B4-BE49-F238E27FC236}">
                <a16:creationId xmlns:a16="http://schemas.microsoft.com/office/drawing/2014/main" id="{2EE7173F-1CE2-49CA-B0FA-6DFD9D4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5229225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OA 回传审批状态；通过后由现有 Offer 系统发送和签署。</a:t>
            </a:r>
          </a:p>
        </p:txBody>
      </p:sp>
      <p:sp>
        <p:nvSpPr>
          <p:cNvPr id="167" name="offer-systems-tag-bg">
            <a:extLst xmlns:a="http://schemas.openxmlformats.org/drawingml/2006/main">
              <a:ext uri="{FF2B5EF4-FFF2-40B4-BE49-F238E27FC236}">
                <a16:creationId xmlns:a16="http://schemas.microsoft.com/office/drawing/2014/main" id="{9C0E1737-AD70-4EC6-A434-24791131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5657850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offer-systems-tag">
            <a:extLst xmlns:a="http://schemas.openxmlformats.org/drawingml/2006/main">
              <a:ext uri="{FF2B5EF4-FFF2-40B4-BE49-F238E27FC236}">
                <a16:creationId xmlns:a16="http://schemas.microsoft.com/office/drawing/2014/main" id="{D37E3F69-A1F7-4438-8161-17EF427B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5695950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④ OA　⑤ 电子签</a:t>
            </a:r>
          </a:p>
        </p:txBody>
      </p:sp>
      <p:sp>
        <p:nvSpPr>
          <p:cNvPr id="169" name="hris-bg">
            <a:extLst xmlns:a="http://schemas.openxmlformats.org/drawingml/2006/main">
              <a:ext uri="{FF2B5EF4-FFF2-40B4-BE49-F238E27FC236}">
                <a16:creationId xmlns:a16="http://schemas.microsoft.com/office/drawing/2014/main" id="{4300ED1B-9392-425A-8AEB-D0AD44AD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1363" y="47625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170" name="hris-title">
            <a:extLst xmlns:a="http://schemas.openxmlformats.org/drawingml/2006/main">
              <a:ext uri="{FF2B5EF4-FFF2-40B4-BE49-F238E27FC236}">
                <a16:creationId xmlns:a16="http://schemas.microsoft.com/office/drawing/2014/main" id="{94BC2E55-8F7D-4B78-9813-E78F2CAA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48291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HRIS 回传入职事实</a:t>
            </a:r>
          </a:p>
        </p:txBody>
      </p:sp>
      <p:sp>
        <p:nvSpPr>
          <p:cNvPr id="171" name="hris-body">
            <a:extLst xmlns:a="http://schemas.openxmlformats.org/drawingml/2006/main">
              <a:ext uri="{FF2B5EF4-FFF2-40B4-BE49-F238E27FC236}">
                <a16:creationId xmlns:a16="http://schemas.microsoft.com/office/drawing/2014/main" id="{39CF7BE9-EA1B-4F44-8147-4BEE880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5229225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正式入职、放弃、延期及入职日期以 HRIS 为准。</a:t>
            </a:r>
          </a:p>
        </p:txBody>
      </p:sp>
      <p:sp>
        <p:nvSpPr>
          <p:cNvPr id="172" name="hris-tag-bg">
            <a:extLst xmlns:a="http://schemas.openxmlformats.org/drawingml/2006/main">
              <a:ext uri="{FF2B5EF4-FFF2-40B4-BE49-F238E27FC236}">
                <a16:creationId xmlns:a16="http://schemas.microsoft.com/office/drawing/2014/main" id="{4EF869A0-A10A-4C51-B8E3-5D60FBA6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5657850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hris-tag">
            <a:extLst xmlns:a="http://schemas.openxmlformats.org/drawingml/2006/main">
              <a:ext uri="{FF2B5EF4-FFF2-40B4-BE49-F238E27FC236}">
                <a16:creationId xmlns:a16="http://schemas.microsoft.com/office/drawing/2014/main" id="{D9A7CE3A-A522-47D4-83D1-EA2FA9D1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4238" y="5695950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⑥ HRIS → 智聘</a:t>
            </a:r>
          </a:p>
        </p:txBody>
      </p:sp>
      <p:sp>
        <p:nvSpPr>
          <p:cNvPr id="174" name="zp-consume-bg">
            <a:extLst xmlns:a="http://schemas.openxmlformats.org/drawingml/2006/main">
              <a:ext uri="{FF2B5EF4-FFF2-40B4-BE49-F238E27FC236}">
                <a16:creationId xmlns:a16="http://schemas.microsoft.com/office/drawing/2014/main" id="{CA3A49C0-AFDE-436C-A94A-4670617F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75" name="zp-consume-title">
            <a:extLst xmlns:a="http://schemas.openxmlformats.org/drawingml/2006/main">
              <a:ext uri="{FF2B5EF4-FFF2-40B4-BE49-F238E27FC236}">
                <a16:creationId xmlns:a16="http://schemas.microsoft.com/office/drawing/2014/main" id="{3B0EA61A-238A-47A8-8A09-23B391F5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消费 MQ 并校验</a:t>
            </a:r>
          </a:p>
        </p:txBody>
      </p:sp>
      <p:sp>
        <p:nvSpPr>
          <p:cNvPr id="176" name="zp-consume-body">
            <a:extLst xmlns:a="http://schemas.openxmlformats.org/drawingml/2006/main">
              <a:ext uri="{FF2B5EF4-FFF2-40B4-BE49-F238E27FC236}">
                <a16:creationId xmlns:a16="http://schemas.microsoft.com/office/drawing/2014/main" id="{512EAF4F-086F-4AD7-8A46-E867E84D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验签、幂等、字段映射；失败进入重试和审计，不重复建单。</a:t>
            </a:r>
          </a:p>
        </p:txBody>
      </p:sp>
      <p:sp>
        <p:nvSpPr>
          <p:cNvPr id="177" name="zp-demand-bg">
            <a:extLst xmlns:a="http://schemas.openxmlformats.org/drawingml/2006/main">
              <a:ext uri="{FF2B5EF4-FFF2-40B4-BE49-F238E27FC236}">
                <a16:creationId xmlns:a16="http://schemas.microsoft.com/office/drawing/2014/main" id="{855F7D7C-8535-46B3-B440-A1139B7B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78" name="zp-demand-title">
            <a:extLst xmlns:a="http://schemas.openxmlformats.org/drawingml/2006/main">
              <a:ext uri="{FF2B5EF4-FFF2-40B4-BE49-F238E27FC236}">
                <a16:creationId xmlns:a16="http://schemas.microsoft.com/office/drawing/2014/main" id="{17D5F140-5A20-460E-B2A0-65ABAA5B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创建 / 更新 Demand</a:t>
            </a:r>
          </a:p>
        </p:txBody>
      </p:sp>
      <p:sp>
        <p:nvSpPr>
          <p:cNvPr id="179" name="zp-demand-body">
            <a:extLst xmlns:a="http://schemas.openxmlformats.org/drawingml/2006/main">
              <a:ext uri="{FF2B5EF4-FFF2-40B4-BE49-F238E27FC236}">
                <a16:creationId xmlns:a16="http://schemas.microsoft.com/office/drawing/2014/main" id="{A5DC065A-CF49-4FF5-89D0-85856072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形成 JD、HC、负责人和状态明确的招聘责任单。</a:t>
            </a:r>
          </a:p>
        </p:txBody>
      </p:sp>
      <p:sp>
        <p:nvSpPr>
          <p:cNvPr id="180" name="zp-material-bg">
            <a:extLst xmlns:a="http://schemas.openxmlformats.org/drawingml/2006/main">
              <a:ext uri="{FF2B5EF4-FFF2-40B4-BE49-F238E27FC236}">
                <a16:creationId xmlns:a16="http://schemas.microsoft.com/office/drawing/2014/main" id="{8B637BE3-AD20-4752-AC9B-EE16F81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81" name="zp-material-title">
            <a:extLst xmlns:a="http://schemas.openxmlformats.org/drawingml/2006/main">
              <a:ext uri="{FF2B5EF4-FFF2-40B4-BE49-F238E27FC236}">
                <a16:creationId xmlns:a16="http://schemas.microsoft.com/office/drawing/2014/main" id="{6B4FE150-CE50-4A07-8415-6F5BD25D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触发资料推送</a:t>
            </a:r>
          </a:p>
        </p:txBody>
      </p:sp>
      <p:sp>
        <p:nvSpPr>
          <p:cNvPr id="182" name="zp-material-body">
            <a:extLst xmlns:a="http://schemas.openxmlformats.org/drawingml/2006/main">
              <a:ext uri="{FF2B5EF4-FFF2-40B4-BE49-F238E27FC236}">
                <a16:creationId xmlns:a16="http://schemas.microsoft.com/office/drawing/2014/main" id="{69242055-1F13-4C75-8F15-65037677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记录触达结果和失败原因。</a:t>
            </a:r>
          </a:p>
        </p:txBody>
      </p:sp>
      <p:sp>
        <p:nvSpPr>
          <p:cNvPr id="183" name="zp-schedule-bg">
            <a:extLst xmlns:a="http://schemas.openxmlformats.org/drawingml/2006/main">
              <a:ext uri="{FF2B5EF4-FFF2-40B4-BE49-F238E27FC236}">
                <a16:creationId xmlns:a16="http://schemas.microsoft.com/office/drawing/2014/main" id="{6A9A68BE-CEDE-4153-8B55-6D8123E2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84" name="zp-schedule-title">
            <a:extLst xmlns:a="http://schemas.openxmlformats.org/drawingml/2006/main">
              <a:ext uri="{FF2B5EF4-FFF2-40B4-BE49-F238E27FC236}">
                <a16:creationId xmlns:a16="http://schemas.microsoft.com/office/drawing/2014/main" id="{6E85CBD5-901A-446F-A790-7A66CBF0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保存面试安排</a:t>
            </a:r>
          </a:p>
        </p:txBody>
      </p:sp>
      <p:sp>
        <p:nvSpPr>
          <p:cNvPr id="185" name="zp-schedule-body">
            <a:extLst xmlns:a="http://schemas.openxmlformats.org/drawingml/2006/main">
              <a:ext uri="{FF2B5EF4-FFF2-40B4-BE49-F238E27FC236}">
                <a16:creationId xmlns:a16="http://schemas.microsoft.com/office/drawing/2014/main" id="{57F8E177-9E78-4BC2-B24F-72284E1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关联 Demand、候选人、轮次、面试官与时间。</a:t>
            </a:r>
          </a:p>
        </p:txBody>
      </p:sp>
      <p:sp>
        <p:nvSpPr>
          <p:cNvPr id="186" name="zp-score-bg">
            <a:extLst xmlns:a="http://schemas.openxmlformats.org/drawingml/2006/main">
              <a:ext uri="{FF2B5EF4-FFF2-40B4-BE49-F238E27FC236}">
                <a16:creationId xmlns:a16="http://schemas.microsoft.com/office/drawing/2014/main" id="{F9214CA3-2CF1-42C6-A838-E3161494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87" name="zp-score-title">
            <a:extLst xmlns:a="http://schemas.openxmlformats.org/drawingml/2006/main">
              <a:ext uri="{FF2B5EF4-FFF2-40B4-BE49-F238E27FC236}">
                <a16:creationId xmlns:a16="http://schemas.microsoft.com/office/drawing/2014/main" id="{39032848-8C02-4671-9900-A9DE4949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开始 30 分钟后发评分卡</a:t>
            </a:r>
          </a:p>
        </p:txBody>
      </p:sp>
      <p:sp>
        <p:nvSpPr>
          <p:cNvPr id="188" name="zp-score-body">
            <a:extLst xmlns:a="http://schemas.openxmlformats.org/drawingml/2006/main">
              <a:ext uri="{FF2B5EF4-FFF2-40B4-BE49-F238E27FC236}">
                <a16:creationId xmlns:a16="http://schemas.microsoft.com/office/drawing/2014/main" id="{8DB86472-720F-4F03-A8F8-EC6DD105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接收 0～10 分和 Yes / No；只记录事实，不自动推进。</a:t>
            </a:r>
          </a:p>
        </p:txBody>
      </p:sp>
      <p:sp>
        <p:nvSpPr>
          <p:cNvPr id="189" name="zp-wait-bg">
            <a:extLst xmlns:a="http://schemas.openxmlformats.org/drawingml/2006/main">
              <a:ext uri="{FF2B5EF4-FFF2-40B4-BE49-F238E27FC236}">
                <a16:creationId xmlns:a16="http://schemas.microsoft.com/office/drawing/2014/main" id="{DC9EE759-817A-43B1-8A30-668F4624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6138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90" name="zp-wait-title">
            <a:extLst xmlns:a="http://schemas.openxmlformats.org/drawingml/2006/main">
              <a:ext uri="{FF2B5EF4-FFF2-40B4-BE49-F238E27FC236}">
                <a16:creationId xmlns:a16="http://schemas.microsoft.com/office/drawing/2014/main" id="{62276626-D13E-4EDF-ABE2-6E89231E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388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等待 HR 决策</a:t>
            </a:r>
          </a:p>
        </p:txBody>
      </p:sp>
      <p:sp>
        <p:nvSpPr>
          <p:cNvPr id="191" name="zp-wait-body">
            <a:extLst xmlns:a="http://schemas.openxmlformats.org/drawingml/2006/main">
              <a:ext uri="{FF2B5EF4-FFF2-40B4-BE49-F238E27FC236}">
                <a16:creationId xmlns:a16="http://schemas.microsoft.com/office/drawing/2014/main" id="{A36EB803-104C-42BA-9314-4D3144E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388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AI 可总结和建议，但不能替 HR 推进、淘汰或发 Offer。</a:t>
            </a:r>
          </a:p>
        </p:txBody>
      </p:sp>
      <p:sp>
        <p:nvSpPr>
          <p:cNvPr id="192" name="zp-offer-bg">
            <a:extLst xmlns:a="http://schemas.openxmlformats.org/drawingml/2006/main">
              <a:ext uri="{FF2B5EF4-FFF2-40B4-BE49-F238E27FC236}">
                <a16:creationId xmlns:a16="http://schemas.microsoft.com/office/drawing/2014/main" id="{8B38AA19-1A2B-41EF-9691-484717B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93" name="zp-offer-title">
            <a:extLst xmlns:a="http://schemas.openxmlformats.org/drawingml/2006/main">
              <a:ext uri="{FF2B5EF4-FFF2-40B4-BE49-F238E27FC236}">
                <a16:creationId xmlns:a16="http://schemas.microsoft.com/office/drawing/2014/main" id="{4D608578-4081-49C6-A234-5055DDB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发起并跟踪 Offer</a:t>
            </a:r>
          </a:p>
        </p:txBody>
      </p:sp>
      <p:sp>
        <p:nvSpPr>
          <p:cNvPr id="194" name="zp-offer-body">
            <a:extLst xmlns:a="http://schemas.openxmlformats.org/drawingml/2006/main">
              <a:ext uri="{FF2B5EF4-FFF2-40B4-BE49-F238E27FC236}">
                <a16:creationId xmlns:a16="http://schemas.microsoft.com/office/drawing/2014/main" id="{C0C1C57C-ACD5-4F7F-B043-C68CCF43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6629400"/>
            <a:ext cx="14906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向 OA 发起审批并展示审批、发放、签署、接受 / 拒绝。</a:t>
            </a:r>
          </a:p>
        </p:txBody>
      </p:sp>
      <p:sp>
        <p:nvSpPr>
          <p:cNvPr id="195" name="zp-offer-tag-bg">
            <a:extLst xmlns:a="http://schemas.openxmlformats.org/drawingml/2006/main">
              <a:ext uri="{FF2B5EF4-FFF2-40B4-BE49-F238E27FC236}">
                <a16:creationId xmlns:a16="http://schemas.microsoft.com/office/drawing/2014/main" id="{88DC326D-196B-4B2F-984E-D97965CD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7058025"/>
            <a:ext cx="14906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zp-offer-tag">
            <a:extLst xmlns:a="http://schemas.openxmlformats.org/drawingml/2006/main">
              <a:ext uri="{FF2B5EF4-FFF2-40B4-BE49-F238E27FC236}">
                <a16:creationId xmlns:a16="http://schemas.microsoft.com/office/drawing/2014/main" id="{AAEF62E6-9574-46CB-8052-F26480C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7096125"/>
            <a:ext cx="13954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智聘 → OA</a:t>
            </a:r>
          </a:p>
        </p:txBody>
      </p:sp>
      <p:sp>
        <p:nvSpPr>
          <p:cNvPr id="197" name="zp-hc-bg">
            <a:extLst xmlns:a="http://schemas.openxmlformats.org/drawingml/2006/main">
              <a:ext uri="{FF2B5EF4-FFF2-40B4-BE49-F238E27FC236}">
                <a16:creationId xmlns:a16="http://schemas.microsoft.com/office/drawing/2014/main" id="{B34B1BFA-B5FE-46FB-95F4-B11BFBD7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1363" y="616267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B"/>
          </a:solidFill>
          <a:ln xmlns:a="http://schemas.openxmlformats.org/drawingml/2006/main" w="9525">
            <a:solidFill>
              <a:srgbClr val="A9DFEA"/>
            </a:solidFill>
            <a:prstDash val="solid"/>
          </a:ln>
        </p:spPr>
      </p:sp>
      <p:sp>
        <p:nvSpPr>
          <p:cNvPr id="198" name="zp-hc-title">
            <a:extLst xmlns:a="http://schemas.openxmlformats.org/drawingml/2006/main">
              <a:ext uri="{FF2B5EF4-FFF2-40B4-BE49-F238E27FC236}">
                <a16:creationId xmlns:a16="http://schemas.microsoft.com/office/drawing/2014/main" id="{B590C330-88ED-49AF-B785-D84D0463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622935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6B80"/>
                </a:solidFill>
              </a:defRPr>
            </a:pPr>
            <a:r>
              <a:rPr sz="1275" b="1">
                <a:solidFill>
                  <a:srgbClr val="086B80"/>
                </a:solidFill>
              </a:rPr>
              <a:t>更新入职状态与 HC</a:t>
            </a:r>
          </a:p>
        </p:txBody>
      </p:sp>
      <p:sp>
        <p:nvSpPr>
          <p:cNvPr id="199" name="zp-hc-body">
            <a:extLst xmlns:a="http://schemas.openxmlformats.org/drawingml/2006/main">
              <a:ext uri="{FF2B5EF4-FFF2-40B4-BE49-F238E27FC236}">
                <a16:creationId xmlns:a16="http://schemas.microsoft.com/office/drawing/2014/main" id="{622342EE-89EE-4550-8B3F-BB09C7D0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662940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正式入职才已入职人数 +1、剩余 HC -1；放弃则释放。</a:t>
            </a:r>
          </a:p>
        </p:txBody>
      </p:sp>
      <p:sp>
        <p:nvSpPr>
          <p:cNvPr id="200" name="hr-accept-bg">
            <a:extLst xmlns:a="http://schemas.openxmlformats.org/drawingml/2006/main">
              <a:ext uri="{FF2B5EF4-FFF2-40B4-BE49-F238E27FC236}">
                <a16:creationId xmlns:a16="http://schemas.microsoft.com/office/drawing/2014/main" id="{C196BF98-1157-4CD7-A862-277F6BEA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756285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8"/>
            </a:solidFill>
            <a:prstDash val="solid"/>
          </a:ln>
        </p:spPr>
      </p:sp>
      <p:sp>
        <p:nvSpPr>
          <p:cNvPr id="201" name="hr-accept-title">
            <a:extLst xmlns:a="http://schemas.openxmlformats.org/drawingml/2006/main">
              <a:ext uri="{FF2B5EF4-FFF2-40B4-BE49-F238E27FC236}">
                <a16:creationId xmlns:a16="http://schemas.microsoft.com/office/drawing/2014/main" id="{B76F4544-93F1-40ED-9E55-00B12368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762952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8E"/>
                </a:solidFill>
              </a:defRPr>
            </a:pPr>
            <a:r>
              <a:rPr sz="1275" b="1">
                <a:solidFill>
                  <a:srgbClr val="173F8E"/>
                </a:solidFill>
              </a:rPr>
              <a:t>接手招聘需求</a:t>
            </a:r>
          </a:p>
        </p:txBody>
      </p:sp>
      <p:sp>
        <p:nvSpPr>
          <p:cNvPr id="202" name="hr-accept-body">
            <a:extLst xmlns:a="http://schemas.openxmlformats.org/drawingml/2006/main">
              <a:ext uri="{FF2B5EF4-FFF2-40B4-BE49-F238E27FC236}">
                <a16:creationId xmlns:a16="http://schemas.microsoft.com/office/drawing/2014/main" id="{0F917DDE-F3A0-44D5-AB2B-3E6CA7C1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802957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核对需求、负责人、目标日期与 HC，开始招聘。</a:t>
            </a:r>
          </a:p>
        </p:txBody>
      </p:sp>
      <p:sp>
        <p:nvSpPr>
          <p:cNvPr id="203" name="hr-select-bg">
            <a:extLst xmlns:a="http://schemas.openxmlformats.org/drawingml/2006/main">
              <a:ext uri="{FF2B5EF4-FFF2-40B4-BE49-F238E27FC236}">
                <a16:creationId xmlns:a16="http://schemas.microsoft.com/office/drawing/2014/main" id="{A9957C55-26EB-4A84-B40E-7FC82CE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756285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8"/>
            </a:solidFill>
            <a:prstDash val="solid"/>
          </a:ln>
        </p:spPr>
      </p:sp>
      <p:sp>
        <p:nvSpPr>
          <p:cNvPr id="204" name="hr-select-title">
            <a:extLst xmlns:a="http://schemas.openxmlformats.org/drawingml/2006/main">
              <a:ext uri="{FF2B5EF4-FFF2-40B4-BE49-F238E27FC236}">
                <a16:creationId xmlns:a16="http://schemas.microsoft.com/office/drawing/2014/main" id="{F7512EC6-E2D3-48C0-B64B-9CBED62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762952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8E"/>
                </a:solidFill>
              </a:defRPr>
            </a:pPr>
            <a:r>
              <a:rPr sz="1275" b="1">
                <a:solidFill>
                  <a:srgbClr val="173F8E"/>
                </a:solidFill>
              </a:rPr>
              <a:t>选择候选人与面试官</a:t>
            </a:r>
          </a:p>
        </p:txBody>
      </p:sp>
      <p:sp>
        <p:nvSpPr>
          <p:cNvPr id="205" name="hr-select-body">
            <a:extLst xmlns:a="http://schemas.openxmlformats.org/drawingml/2006/main">
              <a:ext uri="{FF2B5EF4-FFF2-40B4-BE49-F238E27FC236}">
                <a16:creationId xmlns:a16="http://schemas.microsoft.com/office/drawing/2014/main" id="{AFD3D514-AF3B-4C11-82E3-09603E9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802957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确认资料范围后触发推送。</a:t>
            </a:r>
          </a:p>
        </p:txBody>
      </p:sp>
      <p:sp>
        <p:nvSpPr>
          <p:cNvPr id="206" name="hr-confirm-bg">
            <a:extLst xmlns:a="http://schemas.openxmlformats.org/drawingml/2006/main">
              <a:ext uri="{FF2B5EF4-FFF2-40B4-BE49-F238E27FC236}">
                <a16:creationId xmlns:a16="http://schemas.microsoft.com/office/drawing/2014/main" id="{2F97C8FA-B58B-4083-B12F-598CF38F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56285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8"/>
            </a:solidFill>
            <a:prstDash val="solid"/>
          </a:ln>
        </p:spPr>
      </p:sp>
      <p:sp>
        <p:nvSpPr>
          <p:cNvPr id="207" name="hr-confirm-title">
            <a:extLst xmlns:a="http://schemas.openxmlformats.org/drawingml/2006/main">
              <a:ext uri="{FF2B5EF4-FFF2-40B4-BE49-F238E27FC236}">
                <a16:creationId xmlns:a16="http://schemas.microsoft.com/office/drawing/2014/main" id="{FD501B50-3757-4C54-BA83-5510E99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62952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8E"/>
                </a:solidFill>
              </a:defRPr>
            </a:pPr>
            <a:r>
              <a:rPr sz="1275" b="1">
                <a:solidFill>
                  <a:srgbClr val="173F8E"/>
                </a:solidFill>
              </a:rPr>
              <a:t>人工确认时间和形式</a:t>
            </a:r>
          </a:p>
        </p:txBody>
      </p:sp>
      <p:sp>
        <p:nvSpPr>
          <p:cNvPr id="208" name="hr-confirm-body">
            <a:extLst xmlns:a="http://schemas.openxmlformats.org/drawingml/2006/main">
              <a:ext uri="{FF2B5EF4-FFF2-40B4-BE49-F238E27FC236}">
                <a16:creationId xmlns:a16="http://schemas.microsoft.com/office/drawing/2014/main" id="{CCC2811B-871B-4B04-9712-6238BC6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02957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与候选人确认线上 / 线下并发送通知；邮件或短信待确认。</a:t>
            </a:r>
          </a:p>
        </p:txBody>
      </p:sp>
      <p:sp>
        <p:nvSpPr>
          <p:cNvPr id="209" name="hr-decision-bg">
            <a:extLst xmlns:a="http://schemas.openxmlformats.org/drawingml/2006/main">
              <a:ext uri="{FF2B5EF4-FFF2-40B4-BE49-F238E27FC236}">
                <a16:creationId xmlns:a16="http://schemas.microsoft.com/office/drawing/2014/main" id="{A39454FF-1ADF-4B13-BA29-6AF00EA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6138" y="756285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8B85D"/>
            </a:solidFill>
            <a:prstDash val="solid"/>
          </a:ln>
        </p:spPr>
      </p:sp>
      <p:sp>
        <p:nvSpPr>
          <p:cNvPr id="210" name="hr-decision-title">
            <a:extLst xmlns:a="http://schemas.openxmlformats.org/drawingml/2006/main">
              <a:ext uri="{FF2B5EF4-FFF2-40B4-BE49-F238E27FC236}">
                <a16:creationId xmlns:a16="http://schemas.microsoft.com/office/drawing/2014/main" id="{F0CA1A7F-0F47-4ADB-96FB-20EDDB2A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388" y="762952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200"/>
                </a:solidFill>
              </a:defRPr>
            </a:pPr>
            <a:r>
              <a:rPr sz="1275" b="1">
                <a:solidFill>
                  <a:srgbClr val="8A5200"/>
                </a:solidFill>
              </a:rPr>
              <a:t>人工选择下一步</a:t>
            </a:r>
          </a:p>
        </p:txBody>
      </p:sp>
      <p:sp>
        <p:nvSpPr>
          <p:cNvPr id="211" name="hr-decision-body">
            <a:extLst xmlns:a="http://schemas.openxmlformats.org/drawingml/2006/main">
              <a:ext uri="{FF2B5EF4-FFF2-40B4-BE49-F238E27FC236}">
                <a16:creationId xmlns:a16="http://schemas.microsoft.com/office/drawing/2014/main" id="{79CCF07C-6AF2-49EB-85E7-91BE9BCA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388" y="802957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加面 → 回阶段 5；录用 → 阶段 9；不通过 → 终结。反馈不推进流程。</a:t>
            </a:r>
          </a:p>
        </p:txBody>
      </p:sp>
      <p:sp>
        <p:nvSpPr>
          <p:cNvPr id="212" name="hr-offer-bg">
            <a:extLst xmlns:a="http://schemas.openxmlformats.org/drawingml/2006/main">
              <a:ext uri="{FF2B5EF4-FFF2-40B4-BE49-F238E27FC236}">
                <a16:creationId xmlns:a16="http://schemas.microsoft.com/office/drawing/2014/main" id="{99B3D78E-BF88-43A0-AB0F-C6B908F1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756285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8"/>
            </a:solidFill>
            <a:prstDash val="solid"/>
          </a:ln>
        </p:spPr>
      </p:sp>
      <p:sp>
        <p:nvSpPr>
          <p:cNvPr id="213" name="hr-offer-title">
            <a:extLst xmlns:a="http://schemas.openxmlformats.org/drawingml/2006/main">
              <a:ext uri="{FF2B5EF4-FFF2-40B4-BE49-F238E27FC236}">
                <a16:creationId xmlns:a16="http://schemas.microsoft.com/office/drawing/2014/main" id="{50CD133A-DFE9-4F2D-B796-AA8D1A0D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762952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F8E"/>
                </a:solidFill>
              </a:defRPr>
            </a:pPr>
            <a:r>
              <a:rPr sz="1275" b="1">
                <a:solidFill>
                  <a:srgbClr val="173F8E"/>
                </a:solidFill>
              </a:rPr>
              <a:t>发起 Offer 申请</a:t>
            </a:r>
          </a:p>
        </p:txBody>
      </p:sp>
      <p:sp>
        <p:nvSpPr>
          <p:cNvPr id="214" name="hr-offer-body">
            <a:extLst xmlns:a="http://schemas.openxmlformats.org/drawingml/2006/main">
              <a:ext uri="{FF2B5EF4-FFF2-40B4-BE49-F238E27FC236}">
                <a16:creationId xmlns:a16="http://schemas.microsoft.com/office/drawing/2014/main" id="{92DDC1F6-9252-42CE-8F5E-AD74979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02957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填写 Offer 申请并提交 OA；审批驳回时补充后重提。</a:t>
            </a:r>
          </a:p>
        </p:txBody>
      </p:sp>
      <p:sp>
        <p:nvSpPr>
          <p:cNvPr id="215" name="int-material-bg">
            <a:extLst xmlns:a="http://schemas.openxmlformats.org/drawingml/2006/main">
              <a:ext uri="{FF2B5EF4-FFF2-40B4-BE49-F238E27FC236}">
                <a16:creationId xmlns:a16="http://schemas.microsoft.com/office/drawing/2014/main" id="{493CB46E-F8FC-4CC6-A4A8-0227D01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896302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CBBFFF"/>
            </a:solidFill>
            <a:prstDash val="solid"/>
          </a:ln>
        </p:spPr>
      </p:sp>
      <p:sp>
        <p:nvSpPr>
          <p:cNvPr id="216" name="int-material-title">
            <a:extLst xmlns:a="http://schemas.openxmlformats.org/drawingml/2006/main">
              <a:ext uri="{FF2B5EF4-FFF2-40B4-BE49-F238E27FC236}">
                <a16:creationId xmlns:a16="http://schemas.microsoft.com/office/drawing/2014/main" id="{889F39B9-E020-499E-A747-4A6E3A58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902970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3EB5"/>
                </a:solidFill>
              </a:defRPr>
            </a:pPr>
            <a:r>
              <a:rPr sz="1275" b="1">
                <a:solidFill>
                  <a:srgbClr val="5B3EB5"/>
                </a:solidFill>
              </a:rPr>
              <a:t>接收必要候选人资料</a:t>
            </a:r>
          </a:p>
        </p:txBody>
      </p:sp>
      <p:sp>
        <p:nvSpPr>
          <p:cNvPr id="217" name="int-material-body">
            <a:extLst xmlns:a="http://schemas.openxmlformats.org/drawingml/2006/main">
              <a:ext uri="{FF2B5EF4-FFF2-40B4-BE49-F238E27FC236}">
                <a16:creationId xmlns:a16="http://schemas.microsoft.com/office/drawing/2014/main" id="{99A80D57-954B-4A76-ACEB-900C4E9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942975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只查看本次任务所需信息。</a:t>
            </a:r>
          </a:p>
        </p:txBody>
      </p:sp>
      <p:sp>
        <p:nvSpPr>
          <p:cNvPr id="218" name="int-calendar-bg">
            <a:extLst xmlns:a="http://schemas.openxmlformats.org/drawingml/2006/main">
              <a:ext uri="{FF2B5EF4-FFF2-40B4-BE49-F238E27FC236}">
                <a16:creationId xmlns:a16="http://schemas.microsoft.com/office/drawing/2014/main" id="{91E91D1E-A2D5-466F-A736-DA42288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896302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CBBFFF"/>
            </a:solidFill>
            <a:prstDash val="solid"/>
          </a:ln>
        </p:spPr>
      </p:sp>
      <p:sp>
        <p:nvSpPr>
          <p:cNvPr id="219" name="int-calendar-title">
            <a:extLst xmlns:a="http://schemas.openxmlformats.org/drawingml/2006/main">
              <a:ext uri="{FF2B5EF4-FFF2-40B4-BE49-F238E27FC236}">
                <a16:creationId xmlns:a16="http://schemas.microsoft.com/office/drawing/2014/main" id="{90B9983D-FB0B-441B-B2B2-3BB508A3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02970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3EB5"/>
                </a:solidFill>
              </a:defRPr>
            </a:pPr>
            <a:r>
              <a:rPr sz="1275" b="1">
                <a:solidFill>
                  <a:srgbClr val="5B3EB5"/>
                </a:solidFill>
              </a:rPr>
              <a:t>接收日程和会议信息</a:t>
            </a:r>
          </a:p>
        </p:txBody>
      </p:sp>
      <p:sp>
        <p:nvSpPr>
          <p:cNvPr id="220" name="int-calendar-body">
            <a:extLst xmlns:a="http://schemas.openxmlformats.org/drawingml/2006/main">
              <a:ext uri="{FF2B5EF4-FFF2-40B4-BE49-F238E27FC236}">
                <a16:creationId xmlns:a16="http://schemas.microsoft.com/office/drawing/2014/main" id="{E6DCA98F-A84F-471A-B92D-BF19B9D6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42975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确认时间、会议链接或地点。</a:t>
            </a:r>
          </a:p>
        </p:txBody>
      </p:sp>
      <p:sp>
        <p:nvSpPr>
          <p:cNvPr id="221" name="int-interview-bg">
            <a:extLst xmlns:a="http://schemas.openxmlformats.org/drawingml/2006/main">
              <a:ext uri="{FF2B5EF4-FFF2-40B4-BE49-F238E27FC236}">
                <a16:creationId xmlns:a16="http://schemas.microsoft.com/office/drawing/2014/main" id="{044F222B-EDF0-4C32-BD67-A78C0430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896302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CBBFFF"/>
            </a:solidFill>
            <a:prstDash val="solid"/>
          </a:ln>
        </p:spPr>
      </p:sp>
      <p:sp>
        <p:nvSpPr>
          <p:cNvPr id="222" name="int-interview-title">
            <a:extLst xmlns:a="http://schemas.openxmlformats.org/drawingml/2006/main">
              <a:ext uri="{FF2B5EF4-FFF2-40B4-BE49-F238E27FC236}">
                <a16:creationId xmlns:a16="http://schemas.microsoft.com/office/drawing/2014/main" id="{C7A94C37-529D-4D5D-A2EC-C3683C1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163" y="902970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3EB5"/>
                </a:solidFill>
              </a:defRPr>
            </a:pPr>
            <a:r>
              <a:rPr sz="1275" b="1">
                <a:solidFill>
                  <a:srgbClr val="5B3EB5"/>
                </a:solidFill>
              </a:rPr>
              <a:t>参加面试</a:t>
            </a:r>
          </a:p>
        </p:txBody>
      </p:sp>
      <p:sp>
        <p:nvSpPr>
          <p:cNvPr id="223" name="int-interview-body">
            <a:extLst xmlns:a="http://schemas.openxmlformats.org/drawingml/2006/main">
              <a:ext uri="{FF2B5EF4-FFF2-40B4-BE49-F238E27FC236}">
                <a16:creationId xmlns:a16="http://schemas.microsoft.com/office/drawing/2014/main" id="{D71E0B95-6FB4-4277-B420-561E9CC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163" y="942975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围绕岗位和 JD 完成本轮面试。</a:t>
            </a:r>
          </a:p>
        </p:txBody>
      </p:sp>
      <p:sp>
        <p:nvSpPr>
          <p:cNvPr id="224" name="int-score-bg">
            <a:extLst xmlns:a="http://schemas.openxmlformats.org/drawingml/2006/main">
              <a:ext uri="{FF2B5EF4-FFF2-40B4-BE49-F238E27FC236}">
                <a16:creationId xmlns:a16="http://schemas.microsoft.com/office/drawing/2014/main" id="{BB0DC0E8-7CE4-49E6-B8BD-D627EAD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8963025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CBBFFF"/>
            </a:solidFill>
            <a:prstDash val="solid"/>
          </a:ln>
        </p:spPr>
      </p:sp>
      <p:sp>
        <p:nvSpPr>
          <p:cNvPr id="225" name="int-score-title">
            <a:extLst xmlns:a="http://schemas.openxmlformats.org/drawingml/2006/main">
              <a:ext uri="{FF2B5EF4-FFF2-40B4-BE49-F238E27FC236}">
                <a16:creationId xmlns:a16="http://schemas.microsoft.com/office/drawing/2014/main" id="{54E7D2CC-199D-4179-9D79-2E809CED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9029700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3EB5"/>
                </a:solidFill>
              </a:defRPr>
            </a:pPr>
            <a:r>
              <a:rPr sz="1275" b="1">
                <a:solidFill>
                  <a:srgbClr val="5B3EB5"/>
                </a:solidFill>
              </a:rPr>
              <a:t>填写评分与推荐意见</a:t>
            </a:r>
          </a:p>
        </p:txBody>
      </p:sp>
      <p:sp>
        <p:nvSpPr>
          <p:cNvPr id="226" name="int-score-body">
            <a:extLst xmlns:a="http://schemas.openxmlformats.org/drawingml/2006/main">
              <a:ext uri="{FF2B5EF4-FFF2-40B4-BE49-F238E27FC236}">
                <a16:creationId xmlns:a16="http://schemas.microsoft.com/office/drawing/2014/main" id="{D6E720FF-194D-4982-A3C1-443CC252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9429750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逐项 0～10 分并提交 Yes / No；不直接决定流程结果。</a:t>
            </a:r>
          </a:p>
        </p:txBody>
      </p:sp>
      <p:sp>
        <p:nvSpPr>
          <p:cNvPr id="227" name="can-confirm-bg">
            <a:extLst xmlns:a="http://schemas.openxmlformats.org/drawingml/2006/main">
              <a:ext uri="{FF2B5EF4-FFF2-40B4-BE49-F238E27FC236}">
                <a16:creationId xmlns:a16="http://schemas.microsoft.com/office/drawing/2014/main" id="{13337366-81F2-432F-9D86-1585E510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03632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6F7EF"/>
          </a:solidFill>
          <a:ln xmlns:a="http://schemas.openxmlformats.org/drawingml/2006/main" w="9525">
            <a:solidFill>
              <a:srgbClr val="A9DCC6"/>
            </a:solidFill>
            <a:prstDash val="solid"/>
          </a:ln>
        </p:spPr>
      </p:sp>
      <p:sp>
        <p:nvSpPr>
          <p:cNvPr id="228" name="can-confirm-title">
            <a:extLst xmlns:a="http://schemas.openxmlformats.org/drawingml/2006/main">
              <a:ext uri="{FF2B5EF4-FFF2-40B4-BE49-F238E27FC236}">
                <a16:creationId xmlns:a16="http://schemas.microsoft.com/office/drawing/2014/main" id="{2FE17325-35A4-4554-B1B6-EEFCD60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298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04E"/>
                </a:solidFill>
              </a:defRPr>
            </a:pPr>
            <a:r>
              <a:rPr sz="1275" b="1">
                <a:solidFill>
                  <a:srgbClr val="0B704E"/>
                </a:solidFill>
              </a:rPr>
              <a:t>确认可面时间并接收通知</a:t>
            </a:r>
          </a:p>
        </p:txBody>
      </p:sp>
      <p:sp>
        <p:nvSpPr>
          <p:cNvPr id="229" name="can-confirm-body">
            <a:extLst xmlns:a="http://schemas.openxmlformats.org/drawingml/2006/main">
              <a:ext uri="{FF2B5EF4-FFF2-40B4-BE49-F238E27FC236}">
                <a16:creationId xmlns:a16="http://schemas.microsoft.com/office/drawing/2014/main" id="{02607D7D-83CC-4680-82EF-24F07CC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82992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候选人不使用企业微信；由招聘专员人工联系。</a:t>
            </a:r>
          </a:p>
        </p:txBody>
      </p:sp>
      <p:sp>
        <p:nvSpPr>
          <p:cNvPr id="230" name="can-interview-bg">
            <a:extLst xmlns:a="http://schemas.openxmlformats.org/drawingml/2006/main">
              <a:ext uri="{FF2B5EF4-FFF2-40B4-BE49-F238E27FC236}">
                <a16:creationId xmlns:a16="http://schemas.microsoft.com/office/drawing/2014/main" id="{43384390-D0DD-4682-AB7A-C161167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103632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6F7EF"/>
          </a:solidFill>
          <a:ln xmlns:a="http://schemas.openxmlformats.org/drawingml/2006/main" w="9525">
            <a:solidFill>
              <a:srgbClr val="A9DCC6"/>
            </a:solidFill>
            <a:prstDash val="solid"/>
          </a:ln>
        </p:spPr>
      </p:sp>
      <p:sp>
        <p:nvSpPr>
          <p:cNvPr id="231" name="can-interview-title">
            <a:extLst xmlns:a="http://schemas.openxmlformats.org/drawingml/2006/main">
              <a:ext uri="{FF2B5EF4-FFF2-40B4-BE49-F238E27FC236}">
                <a16:creationId xmlns:a16="http://schemas.microsoft.com/office/drawing/2014/main" id="{80EC4E14-D10E-4381-B725-18B86CE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163" y="104298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04E"/>
                </a:solidFill>
              </a:defRPr>
            </a:pPr>
            <a:r>
              <a:rPr sz="1275" b="1">
                <a:solidFill>
                  <a:srgbClr val="0B704E"/>
                </a:solidFill>
              </a:rPr>
              <a:t>参加面试</a:t>
            </a:r>
          </a:p>
        </p:txBody>
      </p:sp>
      <p:sp>
        <p:nvSpPr>
          <p:cNvPr id="232" name="can-interview-body">
            <a:extLst xmlns:a="http://schemas.openxmlformats.org/drawingml/2006/main">
              <a:ext uri="{FF2B5EF4-FFF2-40B4-BE49-F238E27FC236}">
                <a16:creationId xmlns:a16="http://schemas.microsoft.com/office/drawing/2014/main" id="{5FBE4716-A761-4CE0-9AB5-5D53AC9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163" y="1082992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线上进入会议，或前往线下面试地点。</a:t>
            </a:r>
          </a:p>
        </p:txBody>
      </p:sp>
      <p:sp>
        <p:nvSpPr>
          <p:cNvPr id="233" name="can-offer-bg">
            <a:extLst xmlns:a="http://schemas.openxmlformats.org/drawingml/2006/main">
              <a:ext uri="{FF2B5EF4-FFF2-40B4-BE49-F238E27FC236}">
                <a16:creationId xmlns:a16="http://schemas.microsoft.com/office/drawing/2014/main" id="{185086FB-2D9C-4BEC-B8BB-14FB3897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103632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6F7EF"/>
          </a:solidFill>
          <a:ln xmlns:a="http://schemas.openxmlformats.org/drawingml/2006/main" w="9525">
            <a:solidFill>
              <a:srgbClr val="A9DCC6"/>
            </a:solidFill>
            <a:prstDash val="solid"/>
          </a:ln>
        </p:spPr>
      </p:sp>
      <p:sp>
        <p:nvSpPr>
          <p:cNvPr id="234" name="can-offer-title">
            <a:extLst xmlns:a="http://schemas.openxmlformats.org/drawingml/2006/main">
              <a:ext uri="{FF2B5EF4-FFF2-40B4-BE49-F238E27FC236}">
                <a16:creationId xmlns:a16="http://schemas.microsoft.com/office/drawing/2014/main" id="{D8B7EB8A-B519-4248-8F90-D41333BD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04298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04E"/>
                </a:solidFill>
              </a:defRPr>
            </a:pPr>
            <a:r>
              <a:rPr sz="1275" b="1">
                <a:solidFill>
                  <a:srgbClr val="0B704E"/>
                </a:solidFill>
              </a:rPr>
              <a:t>在现有系统签署 / 拒绝 Offer</a:t>
            </a:r>
          </a:p>
        </p:txBody>
      </p:sp>
      <p:sp>
        <p:nvSpPr>
          <p:cNvPr id="235" name="can-offer-body">
            <a:extLst xmlns:a="http://schemas.openxmlformats.org/drawingml/2006/main">
              <a:ext uri="{FF2B5EF4-FFF2-40B4-BE49-F238E27FC236}">
                <a16:creationId xmlns:a16="http://schemas.microsoft.com/office/drawing/2014/main" id="{DBA42657-92ED-40BE-9128-322D2570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082992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接受后进入待入职；发出或接受 Offer 均不扣减 HC。</a:t>
            </a:r>
          </a:p>
        </p:txBody>
      </p:sp>
      <p:sp>
        <p:nvSpPr>
          <p:cNvPr id="236" name="can-onboard-bg">
            <a:extLst xmlns:a="http://schemas.openxmlformats.org/drawingml/2006/main">
              <a:ext uri="{FF2B5EF4-FFF2-40B4-BE49-F238E27FC236}">
                <a16:creationId xmlns:a16="http://schemas.microsoft.com/office/drawing/2014/main" id="{F8216C66-000F-4B0A-BEE8-4C020472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1363" y="10363200"/>
            <a:ext cx="1681163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6F7EF"/>
          </a:solidFill>
          <a:ln xmlns:a="http://schemas.openxmlformats.org/drawingml/2006/main" w="9525">
            <a:solidFill>
              <a:srgbClr val="A9DCC6"/>
            </a:solidFill>
            <a:prstDash val="solid"/>
          </a:ln>
        </p:spPr>
      </p:sp>
      <p:sp>
        <p:nvSpPr>
          <p:cNvPr id="237" name="can-onboard-title">
            <a:extLst xmlns:a="http://schemas.openxmlformats.org/drawingml/2006/main">
              <a:ext uri="{FF2B5EF4-FFF2-40B4-BE49-F238E27FC236}">
                <a16:creationId xmlns:a16="http://schemas.microsoft.com/office/drawing/2014/main" id="{99A96B86-3713-464E-92F3-478C756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10429875"/>
            <a:ext cx="1490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04E"/>
                </a:solidFill>
              </a:defRPr>
            </a:pPr>
            <a:r>
              <a:rPr sz="1275" b="1">
                <a:solidFill>
                  <a:srgbClr val="0B704E"/>
                </a:solidFill>
              </a:rPr>
              <a:t>正式入职 / 延期 / 放弃</a:t>
            </a:r>
          </a:p>
        </p:txBody>
      </p:sp>
      <p:sp>
        <p:nvSpPr>
          <p:cNvPr id="238" name="can-onboard-body">
            <a:extLst xmlns:a="http://schemas.openxmlformats.org/drawingml/2006/main">
              <a:ext uri="{FF2B5EF4-FFF2-40B4-BE49-F238E27FC236}">
                <a16:creationId xmlns:a16="http://schemas.microsoft.com/office/drawing/2014/main" id="{9A4BE4D7-C8E4-47A3-A8E8-4D51EE32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6613" y="10829925"/>
            <a:ext cx="149066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最终事实由 HRIS 回传，不由候选人在智聘中操作。</a:t>
            </a:r>
          </a:p>
        </p:txBody>
      </p:sp>
      <p:sp>
        <p:nvSpPr>
          <p:cNvPr id="239" name="loop-bg">
            <a:extLst xmlns:a="http://schemas.openxmlformats.org/drawingml/2006/main">
              <a:ext uri="{FF2B5EF4-FFF2-40B4-BE49-F238E27FC236}">
                <a16:creationId xmlns:a16="http://schemas.microsoft.com/office/drawing/2014/main" id="{8B419B9C-5B1C-46B6-B811-86FF86E0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772900"/>
            <a:ext cx="20288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F2FF"/>
          </a:solidFill>
          <a:ln xmlns:a="http://schemas.openxmlformats.org/drawingml/2006/main" w="9525">
            <a:solidFill>
              <a:srgbClr val="D5C7FF"/>
            </a:solidFill>
            <a:prstDash val="solid"/>
          </a:ln>
        </p:spPr>
      </p:sp>
      <p:sp>
        <p:nvSpPr>
          <p:cNvPr id="240" name="loop-text">
            <a:extLst xmlns:a="http://schemas.openxmlformats.org/drawingml/2006/main">
              <a:ext uri="{FF2B5EF4-FFF2-40B4-BE49-F238E27FC236}">
                <a16:creationId xmlns:a16="http://schemas.microsoft.com/office/drawing/2014/main" id="{62AE5912-A753-4C22-A781-1AAD1F3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68150"/>
            <a:ext cx="1995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3795"/>
                </a:solidFill>
              </a:defRPr>
            </a:pPr>
            <a:r>
              <a:rPr sz="1200" b="1">
                <a:solidFill>
                  <a:srgbClr val="493795"/>
                </a:solidFill>
              </a:rPr>
              <a:t>循环分支：选择“进入下一轮”后，指定下一轮负责人，并回到阶段 5，重新执行安排 → 面试 → 评分反馈。</a:t>
            </a:r>
          </a:p>
        </p:txBody>
      </p:sp>
      <p:sp>
        <p:nvSpPr>
          <p:cNvPr id="241" name="note-1-bg">
            <a:extLst xmlns:a="http://schemas.openxmlformats.org/drawingml/2006/main">
              <a:ext uri="{FF2B5EF4-FFF2-40B4-BE49-F238E27FC236}">
                <a16:creationId xmlns:a16="http://schemas.microsoft.com/office/drawing/2014/main" id="{0798E6F9-007D-4F22-84CF-02F092FD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249150"/>
            <a:ext cx="49863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242" name="note-1-title">
            <a:extLst xmlns:a="http://schemas.openxmlformats.org/drawingml/2006/main">
              <a:ext uri="{FF2B5EF4-FFF2-40B4-BE49-F238E27FC236}">
                <a16:creationId xmlns:a16="http://schemas.microsoft.com/office/drawing/2014/main" id="{FF959DBB-0127-4440-963F-36CA8EF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2334875"/>
            <a:ext cx="475773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方向不能画反</a:t>
            </a:r>
          </a:p>
        </p:txBody>
      </p:sp>
      <p:sp>
        <p:nvSpPr>
          <p:cNvPr id="243" name="note-1-body">
            <a:extLst xmlns:a="http://schemas.openxmlformats.org/drawingml/2006/main">
              <a:ext uri="{FF2B5EF4-FFF2-40B4-BE49-F238E27FC236}">
                <a16:creationId xmlns:a16="http://schemas.microsoft.com/office/drawing/2014/main" id="{7828BC96-1318-43ED-948E-AAF24470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2601575"/>
            <a:ext cx="475773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需求：OA → 智聘；Offer：智聘 → OA；入职：HRIS → 智聘。</a:t>
            </a:r>
          </a:p>
        </p:txBody>
      </p:sp>
      <p:sp>
        <p:nvSpPr>
          <p:cNvPr id="244" name="note-2-bg">
            <a:extLst xmlns:a="http://schemas.openxmlformats.org/drawingml/2006/main">
              <a:ext uri="{FF2B5EF4-FFF2-40B4-BE49-F238E27FC236}">
                <a16:creationId xmlns:a16="http://schemas.microsoft.com/office/drawing/2014/main" id="{1781FCCD-89BF-465E-93A9-D0BD158A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12249150"/>
            <a:ext cx="49863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245" name="note-2-title">
            <a:extLst xmlns:a="http://schemas.openxmlformats.org/drawingml/2006/main">
              <a:ext uri="{FF2B5EF4-FFF2-40B4-BE49-F238E27FC236}">
                <a16:creationId xmlns:a16="http://schemas.microsoft.com/office/drawing/2014/main" id="{C267A838-AFF4-4436-97AD-DF7F4398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12334875"/>
            <a:ext cx="475773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候选人通知不算企微接口</a:t>
            </a:r>
          </a:p>
        </p:txBody>
      </p:sp>
      <p:sp>
        <p:nvSpPr>
          <p:cNvPr id="246" name="note-2-body">
            <a:extLst xmlns:a="http://schemas.openxmlformats.org/drawingml/2006/main">
              <a:ext uri="{FF2B5EF4-FFF2-40B4-BE49-F238E27FC236}">
                <a16:creationId xmlns:a16="http://schemas.microsoft.com/office/drawing/2014/main" id="{60A70037-5F4C-4C40-BC37-437E401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12601575"/>
            <a:ext cx="475773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候选人不使用企业微信；邮件或短信仍待业务确认。</a:t>
            </a:r>
          </a:p>
        </p:txBody>
      </p:sp>
      <p:sp>
        <p:nvSpPr>
          <p:cNvPr id="247" name="note-3-bg">
            <a:extLst xmlns:a="http://schemas.openxmlformats.org/drawingml/2006/main">
              <a:ext uri="{FF2B5EF4-FFF2-40B4-BE49-F238E27FC236}">
                <a16:creationId xmlns:a16="http://schemas.microsoft.com/office/drawing/2014/main" id="{46E552AF-37AD-4B53-95CA-AF170AF6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2249150"/>
            <a:ext cx="49863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248" name="note-3-title">
            <a:extLst xmlns:a="http://schemas.openxmlformats.org/drawingml/2006/main">
              <a:ext uri="{FF2B5EF4-FFF2-40B4-BE49-F238E27FC236}">
                <a16:creationId xmlns:a16="http://schemas.microsoft.com/office/drawing/2014/main" id="{A714BA98-EA05-4927-8959-9548AD8A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334875"/>
            <a:ext cx="475773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终态名称待确认</a:t>
            </a:r>
          </a:p>
        </p:txBody>
      </p:sp>
      <p:sp>
        <p:nvSpPr>
          <p:cNvPr id="249" name="note-3-body">
            <a:extLst xmlns:a="http://schemas.openxmlformats.org/drawingml/2006/main">
              <a:ext uri="{FF2B5EF4-FFF2-40B4-BE49-F238E27FC236}">
                <a16:creationId xmlns:a16="http://schemas.microsoft.com/office/drawing/2014/main" id="{4B4358EF-5E3A-4004-8067-D75F5266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601575"/>
            <a:ext cx="475773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不通过、拒绝 Offer 或未入职的最终状态仍需业务定稿。</a:t>
            </a:r>
          </a:p>
        </p:txBody>
      </p:sp>
      <p:sp>
        <p:nvSpPr>
          <p:cNvPr id="250" name="note-4-bg">
            <a:extLst xmlns:a="http://schemas.openxmlformats.org/drawingml/2006/main">
              <a:ext uri="{FF2B5EF4-FFF2-40B4-BE49-F238E27FC236}">
                <a16:creationId xmlns:a16="http://schemas.microsoft.com/office/drawing/2014/main" id="{48770759-A65E-4A75-8F13-357518A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5288" y="12249150"/>
            <a:ext cx="49863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FEB"/>
            </a:solidFill>
            <a:prstDash val="solid"/>
          </a:ln>
        </p:spPr>
      </p:sp>
      <p:sp>
        <p:nvSpPr>
          <p:cNvPr id="251" name="note-4-title">
            <a:extLst xmlns:a="http://schemas.openxmlformats.org/drawingml/2006/main">
              <a:ext uri="{FF2B5EF4-FFF2-40B4-BE49-F238E27FC236}">
                <a16:creationId xmlns:a16="http://schemas.microsoft.com/office/drawing/2014/main" id="{F3F5C49B-F4A9-44D0-AC9F-577679D4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9588" y="12334875"/>
            <a:ext cx="475773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HC 只在正式入职时扣减</a:t>
            </a:r>
          </a:p>
        </p:txBody>
      </p:sp>
      <p:sp>
        <p:nvSpPr>
          <p:cNvPr id="252" name="note-4-body">
            <a:extLst xmlns:a="http://schemas.openxmlformats.org/drawingml/2006/main">
              <a:ext uri="{FF2B5EF4-FFF2-40B4-BE49-F238E27FC236}">
                <a16:creationId xmlns:a16="http://schemas.microsoft.com/office/drawing/2014/main" id="{6AB3AEDE-DCBB-4477-A151-C26D9EB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9588" y="12601575"/>
            <a:ext cx="475773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Offer 发出、签署或接受都不减 HC，以 HRIS 事实为准。</a:t>
            </a:r>
          </a:p>
        </p:txBody>
      </p:sp>
      <p:sp>
        <p:nvSpPr>
          <p:cNvPr id="253" name="footer">
            <a:extLst xmlns:a="http://schemas.openxmlformats.org/drawingml/2006/main">
              <a:ext uri="{FF2B5EF4-FFF2-40B4-BE49-F238E27FC236}">
                <a16:creationId xmlns:a16="http://schemas.microsoft.com/office/drawing/2014/main" id="{B1EEA289-FE2E-46E0-8669-15C32835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58850"/>
            <a:ext cx="2019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依据：飞书妙记 16:35 后讨论、《接口清单.md》、PRD 与《09 招聘中控台目标态线性接口流程图》。目标能力当前均未配置。</a:t>
            </a:r>
          </a:p>
        </p:txBody>
      </p:sp>
    </p:spTree>
    <p:extLst>
      <p:ext uri="{BB962C8B-B14F-4D97-AF65-F5344CB8AC3E}">
        <p14:creationId xmlns:p14="http://schemas.microsoft.com/office/powerpoint/2010/main" val="76282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2026-07-15T11:30:34.9890000Z</dcterms:created>
  <dcterms:modified xsi:type="dcterms:W3CDTF">2026-07-15T11:30:34.9890000Z</dcterms:modified>
</coreProperties>
</file>